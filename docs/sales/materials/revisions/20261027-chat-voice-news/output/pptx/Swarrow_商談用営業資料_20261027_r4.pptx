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8a1eb5a434fe4" /><Relationship Type="http://schemas.openxmlformats.org/officeDocument/2006/relationships/extended-properties" Target="/docProps/app.xml" Id="R76c4cbbcebc54e1a" /><Relationship Type="http://schemas.openxmlformats.org/officeDocument/2006/relationships/officeDocument" Target="/ppt/presentation.xml" Id="R81bdac63d9a1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f35d4b699496d"/>
  </p:sldMasterIdLst>
  <p:notesMasterIdLst>
    <p:notesMasterId xmlns:r="http://schemas.openxmlformats.org/officeDocument/2006/relationships" r:id="Rb73becfd98ef4bb7"/>
  </p:notesMasterIdLst>
  <p:sldIdLst>
    <p:sldId xmlns:r="http://schemas.openxmlformats.org/officeDocument/2006/relationships" id="256" r:id="R87ebbcab2f364719"/>
    <p:sldId xmlns:r="http://schemas.openxmlformats.org/officeDocument/2006/relationships" id="257" r:id="R69b18d255bc3425c"/>
    <p:sldId xmlns:r="http://schemas.openxmlformats.org/officeDocument/2006/relationships" id="258" r:id="R7cc5692af43543f1"/>
    <p:sldId xmlns:r="http://schemas.openxmlformats.org/officeDocument/2006/relationships" id="259" r:id="R349a0e2579e24b1c"/>
    <p:sldId xmlns:r="http://schemas.openxmlformats.org/officeDocument/2006/relationships" id="260" r:id="R87bceb52ff034b83"/>
    <p:sldId xmlns:r="http://schemas.openxmlformats.org/officeDocument/2006/relationships" id="261" r:id="R6e671beffb224dd8"/>
    <p:sldId xmlns:r="http://schemas.openxmlformats.org/officeDocument/2006/relationships" id="262" r:id="Re7e1666183dc4eee"/>
    <p:sldId xmlns:r="http://schemas.openxmlformats.org/officeDocument/2006/relationships" id="263" r:id="R6692075985254ab2"/>
    <p:sldId xmlns:r="http://schemas.openxmlformats.org/officeDocument/2006/relationships" id="264" r:id="R26d966028f7e45df"/>
    <p:sldId xmlns:r="http://schemas.openxmlformats.org/officeDocument/2006/relationships" id="265" r:id="Re7612e18eebb4210"/>
    <p:sldId xmlns:r="http://schemas.openxmlformats.org/officeDocument/2006/relationships" id="266" r:id="R3607d57eb90a4150"/>
    <p:sldId xmlns:r="http://schemas.openxmlformats.org/officeDocument/2006/relationships" id="267" r:id="Rd05d2c455b6b4945"/>
    <p:sldId xmlns:r="http://schemas.openxmlformats.org/officeDocument/2006/relationships" id="268" r:id="Rc2e5cab8c0b345ab"/>
    <p:sldId xmlns:r="http://schemas.openxmlformats.org/officeDocument/2006/relationships" id="269" r:id="R7c7c9c8166b84d35"/>
    <p:sldId xmlns:r="http://schemas.openxmlformats.org/officeDocument/2006/relationships" id="270" r:id="Rc232d545d1b1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1636765a6d4b99" /><Relationship Type="http://schemas.openxmlformats.org/officeDocument/2006/relationships/slideMaster" Target="/ppt/slideMasters/slideMaster1.xml" Id="R4e6f35d4b699496d" /><Relationship Type="http://schemas.openxmlformats.org/officeDocument/2006/relationships/notesMaster" Target="/ppt/notesMasters/notesMaster1.xml" Id="Rb73becfd98ef4bb7" /><Relationship Type="http://schemas.openxmlformats.org/officeDocument/2006/relationships/presProps" Target="/ppt/presProps.xml" Id="R36c913ea0ea54f40" /><Relationship Type="http://schemas.openxmlformats.org/officeDocument/2006/relationships/tableStyles" Target="/ppt/tableStyles.xml" Id="R48d72e0aac464a57" /><Relationship Type="http://schemas.openxmlformats.org/officeDocument/2006/relationships/slide" Target="/ppt/slides/slide1.xml" Id="R87ebbcab2f364719" /><Relationship Type="http://schemas.openxmlformats.org/officeDocument/2006/relationships/slide" Target="/ppt/slides/slide2.xml" Id="R69b18d255bc3425c" /><Relationship Type="http://schemas.openxmlformats.org/officeDocument/2006/relationships/slide" Target="/ppt/slides/slide3.xml" Id="R7cc5692af43543f1" /><Relationship Type="http://schemas.openxmlformats.org/officeDocument/2006/relationships/slide" Target="/ppt/slides/slide4.xml" Id="R349a0e2579e24b1c" /><Relationship Type="http://schemas.openxmlformats.org/officeDocument/2006/relationships/slide" Target="/ppt/slides/slide5.xml" Id="R87bceb52ff034b83" /><Relationship Type="http://schemas.openxmlformats.org/officeDocument/2006/relationships/slide" Target="/ppt/slides/slide6.xml" Id="R6e671beffb224dd8" /><Relationship Type="http://schemas.openxmlformats.org/officeDocument/2006/relationships/slide" Target="/ppt/slides/slide7.xml" Id="Re7e1666183dc4eee" /><Relationship Type="http://schemas.openxmlformats.org/officeDocument/2006/relationships/slide" Target="/ppt/slides/slide8.xml" Id="R6692075985254ab2" /><Relationship Type="http://schemas.openxmlformats.org/officeDocument/2006/relationships/slide" Target="/ppt/slides/slide9.xml" Id="R26d966028f7e45df" /><Relationship Type="http://schemas.openxmlformats.org/officeDocument/2006/relationships/slide" Target="/ppt/slides/slide10.xml" Id="Re7612e18eebb4210" /><Relationship Type="http://schemas.openxmlformats.org/officeDocument/2006/relationships/slide" Target="/ppt/slides/slide11.xml" Id="R3607d57eb90a4150" /><Relationship Type="http://schemas.openxmlformats.org/officeDocument/2006/relationships/slide" Target="/ppt/slides/slide12.xml" Id="Rd05d2c455b6b4945" /><Relationship Type="http://schemas.openxmlformats.org/officeDocument/2006/relationships/slide" Target="/ppt/slides/slide13.xml" Id="Rc2e5cab8c0b345ab" /><Relationship Type="http://schemas.openxmlformats.org/officeDocument/2006/relationships/slide" Target="/ppt/slides/slide14.xml" Id="R7c7c9c8166b84d35" /><Relationship Type="http://schemas.openxmlformats.org/officeDocument/2006/relationships/slide" Target="/ppt/slides/slide15.xml" Id="Rc232d545d1b1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da0987aa0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99cd81e5b4625" /><Relationship Type="http://schemas.openxmlformats.org/officeDocument/2006/relationships/notesMaster" Target="/ppt/notesMasters/notesMaster1.xml" Id="R477646057099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e2c30bcd348a1" /><Relationship Type="http://schemas.openxmlformats.org/officeDocument/2006/relationships/notesMaster" Target="/ppt/notesMasters/notesMaster1.xml" Id="Red20cc71fcd1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9a47a1caa4fcc" /><Relationship Type="http://schemas.openxmlformats.org/officeDocument/2006/relationships/notesMaster" Target="/ppt/notesMasters/notesMaster1.xml" Id="Rb7e32b6a72c7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b20e983034488" /><Relationship Type="http://schemas.openxmlformats.org/officeDocument/2006/relationships/notesMaster" Target="/ppt/notesMasters/notesMaster1.xml" Id="Re9e9d13163ca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5a391f46e54f0a" /><Relationship Type="http://schemas.openxmlformats.org/officeDocument/2006/relationships/notesMaster" Target="/ppt/notesMasters/notesMaster1.xml" Id="Rad931f25bbd848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64468a0aa46fe" /><Relationship Type="http://schemas.openxmlformats.org/officeDocument/2006/relationships/notesMaster" Target="/ppt/notesMasters/notesMaster1.xml" Id="R663f23e159a046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2e962a6904016" /><Relationship Type="http://schemas.openxmlformats.org/officeDocument/2006/relationships/notesMaster" Target="/ppt/notesMasters/notesMaster1.xml" Id="Re58f6e9735b8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65063839a04164" /><Relationship Type="http://schemas.openxmlformats.org/officeDocument/2006/relationships/notesMaster" Target="/ppt/notesMasters/notesMaster1.xml" Id="R844c2b6fd36149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606d023bfe4f3b" /><Relationship Type="http://schemas.openxmlformats.org/officeDocument/2006/relationships/notesMaster" Target="/ppt/notesMasters/notesMaster1.xml" Id="R75c13631cc7a43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563ea77d6747f8" /><Relationship Type="http://schemas.openxmlformats.org/officeDocument/2006/relationships/notesMaster" Target="/ppt/notesMasters/notesMaster1.xml" Id="Ra7700a5b610c4d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f6a887a160462b" /><Relationship Type="http://schemas.openxmlformats.org/officeDocument/2006/relationships/notesMaster" Target="/ppt/notesMasters/notesMaster1.xml" Id="Re1e819fcc88246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72344d994e45e4" /><Relationship Type="http://schemas.openxmlformats.org/officeDocument/2006/relationships/notesMaster" Target="/ppt/notesMasters/notesMaster1.xml" Id="R5525069f7b7e47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8996b216df4f9e" /><Relationship Type="http://schemas.openxmlformats.org/officeDocument/2006/relationships/notesMaster" Target="/ppt/notesMasters/notesMaster1.xml" Id="Rc05dd283cef0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a5b86622c14609" /><Relationship Type="http://schemas.openxmlformats.org/officeDocument/2006/relationships/notesMaster" Target="/ppt/notesMasters/notesMaster1.xml" Id="R37d0a4d5fd18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ede0fa1e6f415a" /><Relationship Type="http://schemas.openxmlformats.org/officeDocument/2006/relationships/notesMaster" Target="/ppt/notesMasters/notesMaster1.xml" Id="R9db39ce46505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>Web音声会話はブラウザ機能。電話回線のAI受電・架電とは別の機能。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佐藤泰格氏の写真・所属・紹介文、運用開始日は前版から保持。放送はNHK宮崎放送局「てげビビ！サタデー」、2026年10月17日。根拠は都城市秘書広報課からの2026年10月16日の放送案内と、10月18日の掲載記事共有。番組名の表記は放送局提供の番組情報 https://bangumi.org/tv_events/AmF-wAuhcAM?overwrite_area=59 で照合。掲載記事 https://news.web.nhk/newsweb/na/nd-20261017de60863 は2026年10月27日時点で404。図版は利用者承認済みのテキストチャット・音声会話を示す独自イラストで、実際の放送画面ではない。SwarrowChatの事例でありSwarrowCallの導入実績ではない。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>防災連絡は運用条件や回線状況を確認し、既存の連絡手段と組み合わせて検討する。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基本料金はユーザー提供「SwarrowChat_パンフレット_更新版.pdf」2ページ（人口10万人以下、初期10万円・月額5万円、税別）に基づく。音声会話は2026年10月27日のユーザー指定「チャット月額の半額」を適用。基本料金と同じ初期設定の範囲で追加初期費用を置かず算定。12か月利用の例であり、初年度の稼働月数は契約による。追加構築・個別連携は別途見積。SwarrowCallの金額は未掲載。初年度と次年度の差額は初期費用10万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出典：元HTML営業資料 /Users/naoya/.codex/worktrees/748a/axisw/docs/sales/swarrow-overview/reference/original-html/index.html。会社連絡先は提供情報に基づく。各業務は活用例であり導入実績や効果の保証ではない。利用範囲、情報更新、電話フロー、受付項目、連携条件は導入時に設定する。個別判断や制度の最終判断は職員が行う。画面・建物は説明用のイメージ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e6a8b42e1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6fa25932274b09" /><Relationship Type="http://schemas.openxmlformats.org/officeDocument/2006/relationships/slideLayout" Target="/ppt/slideLayouts/slideLayout1.xml" Id="R7dcb81d84f2e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b81d84f2e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16da479c4037" /><Relationship Type="http://schemas.openxmlformats.org/officeDocument/2006/relationships/notesSlide" Target="/ppt/notesSlides/notesSlide1.xml" Id="R325df71f73344b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ee66f23cd40db" /><Relationship Type="http://schemas.openxmlformats.org/officeDocument/2006/relationships/image" Target="/ppt/media/image.png" Id="R1644ed8fe77c43a3" /><Relationship Type="http://schemas.openxmlformats.org/officeDocument/2006/relationships/notesSlide" Target="/ppt/notesSlides/notesSlide2.xml" Id="Rc2f5d9341b2842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42d14f7c46e4" /><Relationship Type="http://schemas.openxmlformats.org/officeDocument/2006/relationships/image" Target="/ppt/media/image2.png" Id="Rb59f5dfe6b2e483c" /><Relationship Type="http://schemas.openxmlformats.org/officeDocument/2006/relationships/image" Target="/ppt/media/image3.png" Id="R911c459c87284a00" /><Relationship Type="http://schemas.openxmlformats.org/officeDocument/2006/relationships/image" Target="/ppt/media/image4.png" Id="R2995eeee77224901" /><Relationship Type="http://schemas.openxmlformats.org/officeDocument/2006/relationships/notesSlide" Target="/ppt/notesSlides/notesSlide3.xml" Id="Rda2c8d2d567247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342424e8344b3" /><Relationship Type="http://schemas.openxmlformats.org/officeDocument/2006/relationships/image" Target="/ppt/media/image5.png" Id="R6888181dd58e4332" /><Relationship Type="http://schemas.openxmlformats.org/officeDocument/2006/relationships/image" Target="/ppt/media/image6.png" Id="Rd570192504ec48b4" /><Relationship Type="http://schemas.openxmlformats.org/officeDocument/2006/relationships/image" Target="/ppt/media/image7.png" Id="Recac0d2d30304189" /><Relationship Type="http://schemas.openxmlformats.org/officeDocument/2006/relationships/notesSlide" Target="/ppt/notesSlides/notesSlide4.xml" Id="R3d7354eb99ba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d9cf54f2a499a" /><Relationship Type="http://schemas.openxmlformats.org/officeDocument/2006/relationships/image" Target="/ppt/media/image8.png" Id="R68829df343634b0e" /><Relationship Type="http://schemas.openxmlformats.org/officeDocument/2006/relationships/image" Target="/ppt/media/image9.png" Id="R47c0e619dc124f39" /><Relationship Type="http://schemas.openxmlformats.org/officeDocument/2006/relationships/image" Target="/ppt/media/image10.png" Id="R34ed19af833647ef" /><Relationship Type="http://schemas.openxmlformats.org/officeDocument/2006/relationships/image" Target="/ppt/media/image11.png" Id="R3c722da5b119411c" /><Relationship Type="http://schemas.openxmlformats.org/officeDocument/2006/relationships/image" Target="/ppt/media/image12.png" Id="R500028a86f9b41c6" /><Relationship Type="http://schemas.openxmlformats.org/officeDocument/2006/relationships/image" Target="/ppt/media/image13.png" Id="R7019aee5b1154641" /><Relationship Type="http://schemas.openxmlformats.org/officeDocument/2006/relationships/image" Target="/ppt/media/image14.png" Id="Rff7d77448a614bef" /><Relationship Type="http://schemas.openxmlformats.org/officeDocument/2006/relationships/image" Target="/ppt/media/image15.png" Id="Rcd7331fd012445cd" /><Relationship Type="http://schemas.openxmlformats.org/officeDocument/2006/relationships/notesSlide" Target="/ppt/notesSlides/notesSlide5.xml" Id="R4dece8b86d684f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11e1e7eb141f0" /><Relationship Type="http://schemas.openxmlformats.org/officeDocument/2006/relationships/image" Target="/ppt/media/image16.png" Id="R4c0b308b3c5c490d" /><Relationship Type="http://schemas.openxmlformats.org/officeDocument/2006/relationships/image" Target="/ppt/media/image17.png" Id="R66ce7863c215400c" /><Relationship Type="http://schemas.openxmlformats.org/officeDocument/2006/relationships/image" Target="/ppt/media/image18.png" Id="R134e498f9abb4b47" /><Relationship Type="http://schemas.openxmlformats.org/officeDocument/2006/relationships/image" Target="/ppt/media/image19.png" Id="R0046f2ad50e5429f" /><Relationship Type="http://schemas.openxmlformats.org/officeDocument/2006/relationships/notesSlide" Target="/ppt/notesSlides/notesSlide6.xml" Id="Rdb66d91ac06249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a7e14fdf24968" /><Relationship Type="http://schemas.openxmlformats.org/officeDocument/2006/relationships/image" Target="/ppt/media/image20.png" Id="R35e39d4452264889" /><Relationship Type="http://schemas.openxmlformats.org/officeDocument/2006/relationships/image" Target="/ppt/media/image21.png" Id="R9dc5af6786284dc8" /><Relationship Type="http://schemas.openxmlformats.org/officeDocument/2006/relationships/notesSlide" Target="/ppt/notesSlides/notesSlide7.xml" Id="Rbeae66b764a541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a8c1dbfe9491e" /><Relationship Type="http://schemas.openxmlformats.org/officeDocument/2006/relationships/image" Target="/ppt/media/image22.png" Id="R1bffe0bb3ee54443" /><Relationship Type="http://schemas.openxmlformats.org/officeDocument/2006/relationships/image" Target="/ppt/media/image23.png" Id="R4d0ba6e61e224432" /><Relationship Type="http://schemas.openxmlformats.org/officeDocument/2006/relationships/image" Target="/ppt/media/image24.png" Id="R1e04fc836597430b" /><Relationship Type="http://schemas.openxmlformats.org/officeDocument/2006/relationships/image" Target="/ppt/media/image25.png" Id="Re829e4e26f504ac8" /><Relationship Type="http://schemas.openxmlformats.org/officeDocument/2006/relationships/image" Target="/ppt/media/image26.png" Id="R742ee90896e54462" /><Relationship Type="http://schemas.openxmlformats.org/officeDocument/2006/relationships/image" Target="/ppt/media/image27.png" Id="R3c75c6944ebd44d5" /><Relationship Type="http://schemas.openxmlformats.org/officeDocument/2006/relationships/notesSlide" Target="/ppt/notesSlides/notesSlide8.xml" Id="R3757c3de63644f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f956ec70d4281" /><Relationship Type="http://schemas.openxmlformats.org/officeDocument/2006/relationships/image" Target="/ppt/media/image28.png" Id="R68c07e3da0ce40e3" /><Relationship Type="http://schemas.openxmlformats.org/officeDocument/2006/relationships/image" Target="/ppt/media/image29.png" Id="Rdd391a50a2664e8c" /><Relationship Type="http://schemas.openxmlformats.org/officeDocument/2006/relationships/image" Target="/ppt/media/image30.png" Id="Rf8426edea9934391" /><Relationship Type="http://schemas.openxmlformats.org/officeDocument/2006/relationships/image" Target="/ppt/media/image31.png" Id="R7a1fcc54f72a41ce" /><Relationship Type="http://schemas.openxmlformats.org/officeDocument/2006/relationships/image" Target="/ppt/media/image32.png" Id="Rfaa654cee2114448" /><Relationship Type="http://schemas.openxmlformats.org/officeDocument/2006/relationships/image" Target="/ppt/media/image33.png" Id="R6d8b2c701b044bcd" /><Relationship Type="http://schemas.openxmlformats.org/officeDocument/2006/relationships/notesSlide" Target="/ppt/notesSlides/notesSlide9.xml" Id="R87e2cbd54c7943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9052747da482d" /><Relationship Type="http://schemas.openxmlformats.org/officeDocument/2006/relationships/image" Target="/ppt/media/image34.png" Id="R9e5d7d99b794460e" /><Relationship Type="http://schemas.openxmlformats.org/officeDocument/2006/relationships/image" Target="/ppt/media/image35.png" Id="R6016da3162fc4b97" /><Relationship Type="http://schemas.openxmlformats.org/officeDocument/2006/relationships/image" Target="/ppt/media/image36.png" Id="R2979898cefe74388" /><Relationship Type="http://schemas.openxmlformats.org/officeDocument/2006/relationships/image" Target="/ppt/media/image37.png" Id="Ref27de9c35e64fd4" /><Relationship Type="http://schemas.openxmlformats.org/officeDocument/2006/relationships/notesSlide" Target="/ppt/notesSlides/notesSlide10.xml" Id="Rad24118830ae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2934324cc49ec" /><Relationship Type="http://schemas.openxmlformats.org/officeDocument/2006/relationships/image" Target="/ppt/media/image38.png" Id="Rffba0e93f0344407" /><Relationship Type="http://schemas.openxmlformats.org/officeDocument/2006/relationships/image" Target="/ppt/media/image39.png" Id="Rf898648c25f84ca4" /><Relationship Type="http://schemas.openxmlformats.org/officeDocument/2006/relationships/image" Target="/ppt/media/image40.png" Id="R3513f0730be64389" /><Relationship Type="http://schemas.openxmlformats.org/officeDocument/2006/relationships/image" Target="/ppt/media/image41.png" Id="Rbc1fe3d2d9664dc8" /><Relationship Type="http://schemas.openxmlformats.org/officeDocument/2006/relationships/notesSlide" Target="/ppt/notesSlides/notesSlide11.xml" Id="R3260196c5ab341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e6420166b437b" /><Relationship Type="http://schemas.openxmlformats.org/officeDocument/2006/relationships/image" Target="/ppt/media/image42.png" Id="R4c921bd46e4b4f4b" /><Relationship Type="http://schemas.openxmlformats.org/officeDocument/2006/relationships/image" Target="/ppt/media/image43.png" Id="Rb43f2bf0441045ac" /><Relationship Type="http://schemas.openxmlformats.org/officeDocument/2006/relationships/image" Target="/ppt/media/image44.png" Id="R223c5b425f0545c5" /><Relationship Type="http://schemas.openxmlformats.org/officeDocument/2006/relationships/image" Target="/ppt/media/image45.png" Id="R0cdda90f0d184b50" /><Relationship Type="http://schemas.openxmlformats.org/officeDocument/2006/relationships/notesSlide" Target="/ppt/notesSlides/notesSlide12.xml" Id="Ra4aa0789dd3049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a8b0e979d4f9f" /><Relationship Type="http://schemas.openxmlformats.org/officeDocument/2006/relationships/image" Target="/ppt/media/image46.png" Id="R90f60a173aa246d4" /><Relationship Type="http://schemas.openxmlformats.org/officeDocument/2006/relationships/image" Target="/ppt/media/image47.png" Id="R2cb95e1830d6423b" /><Relationship Type="http://schemas.openxmlformats.org/officeDocument/2006/relationships/image" Target="/ppt/media/image48.png" Id="Re0523ad58a134016" /><Relationship Type="http://schemas.openxmlformats.org/officeDocument/2006/relationships/image" Target="/ppt/media/image49.png" Id="Rd6d2fe7b3e774ad7" /><Relationship Type="http://schemas.openxmlformats.org/officeDocument/2006/relationships/notesSlide" Target="/ppt/notesSlides/notesSlide13.xml" Id="R7eeb8d23e1f248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554c2f0854a72" /><Relationship Type="http://schemas.openxmlformats.org/officeDocument/2006/relationships/notesSlide" Target="/ppt/notesSlides/notesSlide14.xml" Id="R803b32b85a3f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a42edaff94108" /><Relationship Type="http://schemas.openxmlformats.org/officeDocument/2006/relationships/notesSlide" Target="/ppt/notesSlides/notesSlide15.xml" Id="R06645ff36288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0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E977DCCD-079C-4EDB-A142-2081E4D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91" y="1647086"/>
            <a:ext cx="743770" cy="7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2" name="SwarrowChat">
            <a:extLst xmlns:a="http://schemas.openxmlformats.org/drawingml/2006/main">
              <a:ext uri="{FF2B5EF4-FFF2-40B4-BE49-F238E27FC236}">
                <a16:creationId xmlns:a16="http://schemas.microsoft.com/office/drawing/2014/main" id="{4F657B60-48AE-4BBF-8F86-4DBEEF0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16" y="1938606"/>
            <a:ext cx="8750239" cy="903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914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5914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SwarrowChat</a:t>
            </a:r>
          </a:p>
        </p:txBody>
      </p:sp>
      <p:sp>
        <p:nvSpPr>
          <p:cNvPr id="3" name="SwarrowCall">
            <a:extLst xmlns:a="http://schemas.openxmlformats.org/drawingml/2006/main">
              <a:ext uri="{FF2B5EF4-FFF2-40B4-BE49-F238E27FC236}">
                <a16:creationId xmlns:a16="http://schemas.microsoft.com/office/drawing/2014/main" id="{10DA02DF-D19D-4B1D-9ED4-1300E14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16" y="2769437"/>
            <a:ext cx="8750239" cy="903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914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5914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SwarrowCall</a:t>
            </a:r>
          </a:p>
        </p:txBody>
      </p:sp>
      <p:sp>
        <p:nvSpPr>
          <p:cNvPr id="4" name="自治体向けAI窓口サービス">
            <a:extLst xmlns:a="http://schemas.openxmlformats.org/drawingml/2006/main">
              <a:ext uri="{FF2B5EF4-FFF2-40B4-BE49-F238E27FC236}">
                <a16:creationId xmlns:a16="http://schemas.microsoft.com/office/drawing/2014/main" id="{14D88D8F-40C1-412D-BB34-5FB80A66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43" y="3884499"/>
            <a:ext cx="8021053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39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39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自治体向けAI窓口サービス</a:t>
            </a:r>
          </a:p>
        </p:txBody>
      </p:sp>
      <p:sp>
        <p:nvSpPr>
          <p:cNvPr id="5" name="株式会社Vecta">
            <a:extLst xmlns:a="http://schemas.openxmlformats.org/drawingml/2006/main">
              <a:ext uri="{FF2B5EF4-FFF2-40B4-BE49-F238E27FC236}">
                <a16:creationId xmlns:a16="http://schemas.microsoft.com/office/drawing/2014/main" id="{B62DCFD6-9DC6-4394-BCCD-845E2316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9" y="5750225"/>
            <a:ext cx="5104306" cy="40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株式会社Vecta</a:t>
            </a:r>
          </a:p>
        </p:txBody>
      </p:sp>
    </p:spTree>
    <p:extLst>
      <p:ext uri="{BB962C8B-B14F-4D97-AF65-F5344CB8AC3E}">
        <p14:creationId xmlns:p14="http://schemas.microsoft.com/office/powerpoint/2010/main" val="138073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2">
            <a:extLst xmlns:a="http://schemas.openxmlformats.org/drawingml/2006/main">
              <a:ext uri="{FF2B5EF4-FFF2-40B4-BE49-F238E27FC236}">
                <a16:creationId xmlns:a16="http://schemas.microsoft.com/office/drawing/2014/main" id="{7B0AB135-FEBA-491C-9B85-8697BB4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A4852D58-B023-427B-8E46-C3E362C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3" name="会社紹介">
            <a:extLst xmlns:a="http://schemas.openxmlformats.org/drawingml/2006/main">
              <a:ext uri="{FF2B5EF4-FFF2-40B4-BE49-F238E27FC236}">
                <a16:creationId xmlns:a16="http://schemas.microsoft.com/office/drawing/2014/main" id="{9568B4AF-7FF5-4650-9C90-A6C25100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会社紹介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C0556-88DB-48E5-9B86-88BFB6BC3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4ed8fe77c43a3"/>
          <a:stretch xmlns:a="http://schemas.openxmlformats.org/drawingml/2006/main"/>
        </p:blipFill>
        <p:spPr>
          <a:xfrm xmlns:a="http://schemas.openxmlformats.org/drawingml/2006/main">
            <a:off x="1273585" y="2077078"/>
            <a:ext cx="2309213" cy="3279596"/>
          </a:xfrm>
          <a:prstGeom xmlns:a="http://schemas.openxmlformats.org/drawingml/2006/main" prst="rect">
            <a:avLst/>
          </a:prstGeom>
        </p:spPr>
      </p:pic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34EBA82B-2C24-4F31-A7E5-927E606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85" y="1581494"/>
            <a:ext cx="7292" cy="426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sp>
        <p:nvSpPr>
          <p:cNvPr id="6" name="会社名">
            <a:extLst xmlns:a="http://schemas.openxmlformats.org/drawingml/2006/main">
              <a:ext uri="{FF2B5EF4-FFF2-40B4-BE49-F238E27FC236}">
                <a16:creationId xmlns:a16="http://schemas.microsoft.com/office/drawing/2014/main" id="{72312490-0A46-4975-ABEE-1E5DF9C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1574206"/>
            <a:ext cx="6198086" cy="313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会社名</a:t>
            </a:r>
          </a:p>
        </p:txBody>
      </p:sp>
      <p:sp>
        <p:nvSpPr>
          <p:cNvPr id="7" name="株式会社Vecta">
            <a:extLst xmlns:a="http://schemas.openxmlformats.org/drawingml/2006/main">
              <a:ext uri="{FF2B5EF4-FFF2-40B4-BE49-F238E27FC236}">
                <a16:creationId xmlns:a16="http://schemas.microsoft.com/office/drawing/2014/main" id="{D4518447-6E61-463D-BC92-7B085C6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1916742"/>
            <a:ext cx="6416842" cy="58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71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871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株式会社Vecta</a:t>
            </a:r>
          </a:p>
        </p:txBody>
      </p:sp>
      <p:sp>
        <p:nvSpPr>
          <p:cNvPr id="8" name="住所">
            <a:extLst xmlns:a="http://schemas.openxmlformats.org/drawingml/2006/main">
              <a:ext uri="{FF2B5EF4-FFF2-40B4-BE49-F238E27FC236}">
                <a16:creationId xmlns:a16="http://schemas.microsoft.com/office/drawing/2014/main" id="{28C2A0CD-8BE9-4355-A9AC-9C29B5C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2711133"/>
            <a:ext cx="6198086" cy="313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住所</a:t>
            </a:r>
          </a:p>
        </p:txBody>
      </p:sp>
      <p:sp>
        <p:nvSpPr>
          <p:cNvPr id="9" name="〒150-0002">
            <a:extLst xmlns:a="http://schemas.openxmlformats.org/drawingml/2006/main">
              <a:ext uri="{FF2B5EF4-FFF2-40B4-BE49-F238E27FC236}">
                <a16:creationId xmlns:a16="http://schemas.microsoft.com/office/drawing/2014/main" id="{B80E5A40-3111-4584-B5D1-8283A67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3046380"/>
            <a:ext cx="6416842" cy="3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〒150-0002</a:t>
            </a:r>
          </a:p>
        </p:txBody>
      </p:sp>
      <p:sp>
        <p:nvSpPr>
          <p:cNvPr id="10" name="東京都渋谷区渋谷2-19-15 宮益坂ビルディング609">
            <a:extLst xmlns:a="http://schemas.openxmlformats.org/drawingml/2006/main">
              <a:ext uri="{FF2B5EF4-FFF2-40B4-BE49-F238E27FC236}">
                <a16:creationId xmlns:a16="http://schemas.microsoft.com/office/drawing/2014/main" id="{7FDB52B4-6B94-4726-92F8-8256DD2C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3367052"/>
            <a:ext cx="6635598" cy="371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東京都渋谷区渋谷2-19-15 宮益坂ビルディング609</a:t>
            </a:r>
          </a:p>
        </p:txBody>
      </p:sp>
      <p:sp>
        <p:nvSpPr>
          <p:cNvPr id="11" name="事業内容">
            <a:extLst xmlns:a="http://schemas.openxmlformats.org/drawingml/2006/main">
              <a:ext uri="{FF2B5EF4-FFF2-40B4-BE49-F238E27FC236}">
                <a16:creationId xmlns:a16="http://schemas.microsoft.com/office/drawing/2014/main" id="{98757DC1-F19F-4F47-AC10-868B674F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4022971"/>
            <a:ext cx="6198086" cy="313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5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事業内容</a:t>
            </a:r>
          </a:p>
        </p:txBody>
      </p:sp>
      <p:sp>
        <p:nvSpPr>
          <p:cNvPr id="12" name="SwarrowChat事業（自治体ホームページAI窓口）">
            <a:extLst xmlns:a="http://schemas.openxmlformats.org/drawingml/2006/main">
              <a:ext uri="{FF2B5EF4-FFF2-40B4-BE49-F238E27FC236}">
                <a16:creationId xmlns:a16="http://schemas.microsoft.com/office/drawing/2014/main" id="{8D224124-9994-47A0-B073-ACAB7B49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4380083"/>
            <a:ext cx="6854354" cy="371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SwarrowChat事業（自治体ホームページAI窓口）</a:t>
            </a:r>
          </a:p>
        </p:txBody>
      </p:sp>
      <p:sp>
        <p:nvSpPr>
          <p:cNvPr id="13" name="SwarrowCall事業（AIコールセンター）">
            <a:extLst xmlns:a="http://schemas.openxmlformats.org/drawingml/2006/main">
              <a:ext uri="{FF2B5EF4-FFF2-40B4-BE49-F238E27FC236}">
                <a16:creationId xmlns:a16="http://schemas.microsoft.com/office/drawing/2014/main" id="{D9B3B0D7-EE72-4AA5-B795-235373C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4817362"/>
            <a:ext cx="6854354" cy="371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SwarrowCall事業（AIコールセンター）</a:t>
            </a:r>
          </a:p>
        </p:txBody>
      </p:sp>
      <p:sp>
        <p:nvSpPr>
          <p:cNvPr id="14" name="開発受託事業">
            <a:extLst xmlns:a="http://schemas.openxmlformats.org/drawingml/2006/main">
              <a:ext uri="{FF2B5EF4-FFF2-40B4-BE49-F238E27FC236}">
                <a16:creationId xmlns:a16="http://schemas.microsoft.com/office/drawing/2014/main" id="{304ECBE4-0F8F-41C0-8836-2CB7B344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5254642"/>
            <a:ext cx="6854354" cy="371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開発受託事業</a:t>
            </a:r>
          </a:p>
        </p:txBody>
      </p:sp>
      <p:sp>
        <p:nvSpPr>
          <p:cNvPr id="15" name="Webシステム・モバイルアプリ・AI基盤">
            <a:extLst xmlns:a="http://schemas.openxmlformats.org/drawingml/2006/main">
              <a:ext uri="{FF2B5EF4-FFF2-40B4-BE49-F238E27FC236}">
                <a16:creationId xmlns:a16="http://schemas.microsoft.com/office/drawing/2014/main" id="{B3866F00-B529-4F81-A833-0640D16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50" y="5611753"/>
            <a:ext cx="6854354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Webシステム・モバイルアプリ・AI基盤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AC15FFCE-463B-41EB-A352-BBE1CACB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17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84F7B922-44B3-41F7-A2B5-C64C3C3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8" name="02">
            <a:extLst xmlns:a="http://schemas.openxmlformats.org/drawingml/2006/main">
              <a:ext uri="{FF2B5EF4-FFF2-40B4-BE49-F238E27FC236}">
                <a16:creationId xmlns:a16="http://schemas.microsoft.com/office/drawing/2014/main" id="{3596E905-CFFF-4592-9CAC-D2FD716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4372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2C575379-CE30-498A-BEE0-2A1D538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15" y="1690814"/>
            <a:ext cx="7292" cy="4372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C5A092BF-999A-4364-8ADA-062BAF7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85" y="1690814"/>
            <a:ext cx="7292" cy="4372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8C679-FA5D-45B5-877B-058F92C12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f5dfe6b2e483c"/>
          <a:stretch xmlns:a="http://schemas.openxmlformats.org/drawingml/2006/main"/>
        </p:blipFill>
        <p:spPr>
          <a:xfrm xmlns:a="http://schemas.openxmlformats.org/drawingml/2006/main">
            <a:off x="606071" y="1537766"/>
            <a:ext cx="3184852" cy="2514357"/>
          </a:xfrm>
          <a:prstGeom xmlns:a="http://schemas.openxmlformats.org/drawingml/2006/main" prst="rect">
            <a:avLst/>
          </a:prstGeom>
        </p:spPr>
      </p:pic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4CAEF28C-1200-429F-9DB5-ED78D3D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17" y="4183307"/>
            <a:ext cx="1939636" cy="371688"/>
          </a:xfrm>
          <a:prstGeom xmlns:a="http://schemas.openxmlformats.org/drawingml/2006/main" prst="roundRect">
            <a:avLst>
              <a:gd name="adj" fmla="val 5885"/>
            </a:avLst>
          </a:prstGeom>
          <a:solidFill xmlns:a="http://schemas.openxmlformats.org/drawingml/2006/main">
            <a:srgbClr val="2F7D67"/>
          </a:solidFill>
          <a:ln xmlns:a="http://schemas.openxmlformats.org/drawingml/2006/main" w="0">
            <a:noFill/>
          </a:ln>
        </p:spPr>
      </p:sp>
      <p:sp>
        <p:nvSpPr>
          <p:cNvPr id="5" name="ホームページ">
            <a:extLst xmlns:a="http://schemas.openxmlformats.org/drawingml/2006/main">
              <a:ext uri="{FF2B5EF4-FFF2-40B4-BE49-F238E27FC236}">
                <a16:creationId xmlns:a16="http://schemas.microsoft.com/office/drawing/2014/main" id="{62FAEE64-E602-4C30-9882-0A3ADC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17" y="4234323"/>
            <a:ext cx="1939636" cy="335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ホームページ</a:t>
            </a:r>
          </a:p>
        </p:txBody>
      </p:sp>
      <p:sp>
        <p:nvSpPr>
          <p:cNvPr id="6" name="必要な情報を探しきれない">
            <a:extLst xmlns:a="http://schemas.openxmlformats.org/drawingml/2006/main">
              <a:ext uri="{FF2B5EF4-FFF2-40B4-BE49-F238E27FC236}">
                <a16:creationId xmlns:a16="http://schemas.microsoft.com/office/drawing/2014/main" id="{184F60DE-909D-4265-99A8-51166B47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79" y="4831938"/>
            <a:ext cx="3645933" cy="49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必要な情報を探しきれない</a:t>
            </a:r>
          </a:p>
        </p:txBody>
      </p:sp>
      <p:sp>
        <p:nvSpPr>
          <p:cNvPr id="7" name="制度名が分からず&#10;必要なページにたどり着けない">
            <a:extLst xmlns:a="http://schemas.openxmlformats.org/drawingml/2006/main">
              <a:ext uri="{FF2B5EF4-FFF2-40B4-BE49-F238E27FC236}">
                <a16:creationId xmlns:a16="http://schemas.microsoft.com/office/drawing/2014/main" id="{40E28C13-EE3E-4C1E-B967-EB1F65B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82" y="5444130"/>
            <a:ext cx="3470928" cy="634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制度名が分からず</a:t>
            </a:r>
          </a:p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必要なページにたどり着けない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7B496-58A1-4793-B03D-7A2A89663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459c87284a00"/>
          <a:stretch xmlns:a="http://schemas.openxmlformats.org/drawingml/2006/main"/>
        </p:blipFill>
        <p:spPr>
          <a:xfrm xmlns:a="http://schemas.openxmlformats.org/drawingml/2006/main">
            <a:off x="4623832" y="1566918"/>
            <a:ext cx="2966213" cy="2470629"/>
          </a:xfrm>
          <a:prstGeom xmlns:a="http://schemas.openxmlformats.org/drawingml/2006/main" prst="rect">
            <a:avLst/>
          </a:prstGeom>
        </p:spPr>
      </p:pic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753039F4-ED94-4536-B50A-B51B1F44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66" y="4183307"/>
            <a:ext cx="1939636" cy="371688"/>
          </a:xfrm>
          <a:prstGeom xmlns:a="http://schemas.openxmlformats.org/drawingml/2006/main" prst="roundRect">
            <a:avLst>
              <a:gd name="adj" fmla="val 5885"/>
            </a:avLst>
          </a:prstGeom>
          <a:solidFill xmlns:a="http://schemas.openxmlformats.org/drawingml/2006/main">
            <a:srgbClr val="315EA8"/>
          </a:solidFill>
          <a:ln xmlns:a="http://schemas.openxmlformats.org/drawingml/2006/main" w="0">
            <a:noFill/>
          </a:ln>
        </p:spPr>
      </p:sp>
      <p:sp>
        <p:nvSpPr>
          <p:cNvPr id="10" name="電話受付">
            <a:extLst xmlns:a="http://schemas.openxmlformats.org/drawingml/2006/main">
              <a:ext uri="{FF2B5EF4-FFF2-40B4-BE49-F238E27FC236}">
                <a16:creationId xmlns:a16="http://schemas.microsoft.com/office/drawing/2014/main" id="{24620D3D-0B0F-4EDA-9D56-9EB32D1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66" y="4234323"/>
            <a:ext cx="1939636" cy="335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電話受付</a:t>
            </a:r>
          </a:p>
        </p:txBody>
      </p:sp>
      <p:sp>
        <p:nvSpPr>
          <p:cNvPr id="11" name="同じ案内を繰り返している">
            <a:extLst xmlns:a="http://schemas.openxmlformats.org/drawingml/2006/main">
              <a:ext uri="{FF2B5EF4-FFF2-40B4-BE49-F238E27FC236}">
                <a16:creationId xmlns:a16="http://schemas.microsoft.com/office/drawing/2014/main" id="{20DF4FDF-CF57-4E54-9B07-4E07B87D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828" y="4831938"/>
            <a:ext cx="3645933" cy="49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同じ案内を繰り返している</a:t>
            </a:r>
          </a:p>
        </p:txBody>
      </p:sp>
      <p:sp>
        <p:nvSpPr>
          <p:cNvPr id="12" name="繁忙時や閉庁後の着信を&#10;十分に受けきれない">
            <a:extLst xmlns:a="http://schemas.openxmlformats.org/drawingml/2006/main">
              <a:ext uri="{FF2B5EF4-FFF2-40B4-BE49-F238E27FC236}">
                <a16:creationId xmlns:a16="http://schemas.microsoft.com/office/drawing/2014/main" id="{DB85C313-5CEC-4271-AC84-5B1377AA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30" y="5444130"/>
            <a:ext cx="3470928" cy="634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繁忙時や閉庁後の着信を</a:t>
            </a:r>
          </a:p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十分に受けきれない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CA2226-F097-4AC6-A45A-1B65FA02BC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5eeee77224901"/>
          <a:stretch xmlns:a="http://schemas.openxmlformats.org/drawingml/2006/main"/>
        </p:blipFill>
        <p:spPr>
          <a:xfrm xmlns:a="http://schemas.openxmlformats.org/drawingml/2006/main">
            <a:off x="8503180" y="1537766"/>
            <a:ext cx="3250444" cy="2507069"/>
          </a:xfrm>
          <a:prstGeom xmlns:a="http://schemas.openxmlformats.org/drawingml/2006/main" prst="rect">
            <a:avLst/>
          </a:prstGeom>
        </p:spPr>
      </p:pic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E6F97587-4F3B-4161-9AD0-5D4ED689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914" y="4183307"/>
            <a:ext cx="1939636" cy="371688"/>
          </a:xfrm>
          <a:prstGeom xmlns:a="http://schemas.openxmlformats.org/drawingml/2006/main" prst="roundRect">
            <a:avLst>
              <a:gd name="adj" fmla="val 5885"/>
            </a:avLst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5" name="電話発信">
            <a:extLst xmlns:a="http://schemas.openxmlformats.org/drawingml/2006/main">
              <a:ext uri="{FF2B5EF4-FFF2-40B4-BE49-F238E27FC236}">
                <a16:creationId xmlns:a16="http://schemas.microsoft.com/office/drawing/2014/main" id="{53662B44-2330-4E88-A483-72D50152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914" y="4234323"/>
            <a:ext cx="1939636" cy="335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電話発信</a:t>
            </a:r>
          </a:p>
        </p:txBody>
      </p:sp>
      <p:sp>
        <p:nvSpPr>
          <p:cNvPr id="16" name="必要な件数に連絡しきれない">
            <a:extLst xmlns:a="http://schemas.openxmlformats.org/drawingml/2006/main">
              <a:ext uri="{FF2B5EF4-FFF2-40B4-BE49-F238E27FC236}">
                <a16:creationId xmlns:a16="http://schemas.microsoft.com/office/drawing/2014/main" id="{35D6EFB8-A089-4228-9C8B-583DB51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976" y="4831938"/>
            <a:ext cx="3645933" cy="49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95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必要な件数に連絡しきれない</a:t>
            </a:r>
          </a:p>
        </p:txBody>
      </p:sp>
      <p:sp>
        <p:nvSpPr>
          <p:cNvPr id="17" name="健診案内や納付勧奨など&#10;個別の電話連絡が積み重なる">
            <a:extLst xmlns:a="http://schemas.openxmlformats.org/drawingml/2006/main">
              <a:ext uri="{FF2B5EF4-FFF2-40B4-BE49-F238E27FC236}">
                <a16:creationId xmlns:a16="http://schemas.microsoft.com/office/drawing/2014/main" id="{DBEEE6AE-A2A3-43FD-B2A7-3E80DB6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78" y="5444130"/>
            <a:ext cx="3470928" cy="634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健診案内や納付勧奨など</a:t>
            </a:r>
          </a:p>
          <a:p xmlns:a="http://schemas.openxmlformats.org/drawingml/2006/main">
            <a:pPr algn="ctr">
              <a:buNone/>
              <a:def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個別の電話連絡が積み重なる</a:t>
            </a:r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5DB2EC78-1102-4DB6-9A15-F03A338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7AC0746C-2E0A-4A07-B485-6C863797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20" name="住民接点ごとに異なる業務の負担">
            <a:extLst xmlns:a="http://schemas.openxmlformats.org/drawingml/2006/main">
              <a:ext uri="{FF2B5EF4-FFF2-40B4-BE49-F238E27FC236}">
                <a16:creationId xmlns:a16="http://schemas.microsoft.com/office/drawing/2014/main" id="{1BA24B9E-3479-4EEF-93DF-8164A9D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住民接点ごとに異なる業務の負担</a:t>
            </a:r>
          </a:p>
        </p:txBody>
      </p:sp>
      <p:sp>
        <p:nvSpPr>
          <p:cNvPr id="21" name="情報の案内、電話の一次受付、対象者への連絡を分けて考えます。">
            <a:extLst xmlns:a="http://schemas.openxmlformats.org/drawingml/2006/main">
              <a:ext uri="{FF2B5EF4-FFF2-40B4-BE49-F238E27FC236}">
                <a16:creationId xmlns:a16="http://schemas.microsoft.com/office/drawing/2014/main" id="{3CD1A685-AB9D-4A6C-9AC7-C146DE9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情報の案内、電話の一次受付、対象者への連絡を分けて考えます。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B383EA73-730F-4C81-9B86-3A3DB7E9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23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A133B6C3-6F5C-4EC1-8472-88E397A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24" name="03">
            <a:extLst xmlns:a="http://schemas.openxmlformats.org/drawingml/2006/main">
              <a:ext uri="{FF2B5EF4-FFF2-40B4-BE49-F238E27FC236}">
                <a16:creationId xmlns:a16="http://schemas.microsoft.com/office/drawing/2014/main" id="{70AA4EBF-4760-4877-B72F-BF0D85FF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8451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2571199F-D5E7-49E8-A7BB-ED846374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7766"/>
            <a:ext cx="7292" cy="38334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9DA"/>
          </a:solidFill>
          <a:ln xmlns:a="http://schemas.openxmlformats.org/drawingml/2006/main" w="0">
            <a:noFill/>
          </a:ln>
        </p:spPr>
      </p:sp>
      <p:sp>
        <p:nvSpPr>
          <p:cNvPr id="2" name="SwarrowChat">
            <a:extLst xmlns:a="http://schemas.openxmlformats.org/drawingml/2006/main">
              <a:ext uri="{FF2B5EF4-FFF2-40B4-BE49-F238E27FC236}">
                <a16:creationId xmlns:a16="http://schemas.microsoft.com/office/drawing/2014/main" id="{F54491E6-1C89-48A8-9306-F13A2348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4" y="1661662"/>
            <a:ext cx="5177225" cy="699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38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pPr>
            <a:r>
              <a:rPr sz="4938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rPr>
              <a:t>SwarrowChat</a:t>
            </a:r>
          </a:p>
        </p:txBody>
      </p:sp>
      <p:sp>
        <p:nvSpPr>
          <p:cNvPr id="3" name="自治体ホームページAI窓口">
            <a:extLst xmlns:a="http://schemas.openxmlformats.org/drawingml/2006/main">
              <a:ext uri="{FF2B5EF4-FFF2-40B4-BE49-F238E27FC236}">
                <a16:creationId xmlns:a16="http://schemas.microsoft.com/office/drawing/2014/main" id="{B76F941A-4FBA-494E-8BDB-68C6B1AE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4" y="2368597"/>
            <a:ext cx="5177225" cy="47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自治体ホームページAI窓口</a:t>
            </a:r>
          </a:p>
        </p:txBody>
      </p:sp>
      <p:sp>
        <p:nvSpPr>
          <p:cNvPr id="4" name="SwarrowCall">
            <a:extLst xmlns:a="http://schemas.openxmlformats.org/drawingml/2006/main">
              <a:ext uri="{FF2B5EF4-FFF2-40B4-BE49-F238E27FC236}">
                <a16:creationId xmlns:a16="http://schemas.microsoft.com/office/drawing/2014/main" id="{C8932084-19B0-40D7-9F7C-BB3E1B3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301" y="1661662"/>
            <a:ext cx="5177225" cy="699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3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493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SwarrowCall</a:t>
            </a:r>
          </a:p>
        </p:txBody>
      </p:sp>
      <p:sp>
        <p:nvSpPr>
          <p:cNvPr id="5" name="AIコールセンター">
            <a:extLst xmlns:a="http://schemas.openxmlformats.org/drawingml/2006/main">
              <a:ext uri="{FF2B5EF4-FFF2-40B4-BE49-F238E27FC236}">
                <a16:creationId xmlns:a16="http://schemas.microsoft.com/office/drawing/2014/main" id="{9289F083-5F66-47D2-9065-8C3638E3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301" y="2368597"/>
            <a:ext cx="5177225" cy="47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AIコールセンター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C17BDA-2AFA-48E9-A9B7-3E60BF01A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8181dd58e4332"/>
          <a:stretch xmlns:a="http://schemas.openxmlformats.org/drawingml/2006/main"/>
        </p:blipFill>
        <p:spPr>
          <a:xfrm xmlns:a="http://schemas.openxmlformats.org/drawingml/2006/main">
            <a:off x="566097" y="3039092"/>
            <a:ext cx="5167978" cy="181471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1EEE9-D54D-48CC-A46B-84BAB9602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0192504ec48b4"/>
          <a:stretch xmlns:a="http://schemas.openxmlformats.org/drawingml/2006/main"/>
        </p:blipFill>
        <p:spPr>
          <a:xfrm xmlns:a="http://schemas.openxmlformats.org/drawingml/2006/main">
            <a:off x="6454028" y="2747573"/>
            <a:ext cx="2732997" cy="2128094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45331-BB88-4497-B891-66A8FC392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c0d2d30304189"/>
          <a:stretch xmlns:a="http://schemas.openxmlformats.org/drawingml/2006/main"/>
        </p:blipFill>
        <p:spPr>
          <a:xfrm xmlns:a="http://schemas.openxmlformats.org/drawingml/2006/main">
            <a:off x="9654956" y="2813165"/>
            <a:ext cx="1975046" cy="2113518"/>
          </a:xfrm>
          <a:prstGeom xmlns:a="http://schemas.openxmlformats.org/drawingml/2006/main" prst="rect">
            <a:avLst/>
          </a:prstGeom>
        </p:spPr>
      </p:pic>
      <p:sp>
        <p:nvSpPr>
          <p:cNvPr id="9" name="Webチャット">
            <a:extLst xmlns:a="http://schemas.openxmlformats.org/drawingml/2006/main">
              <a:ext uri="{FF2B5EF4-FFF2-40B4-BE49-F238E27FC236}">
                <a16:creationId xmlns:a16="http://schemas.microsoft.com/office/drawing/2014/main" id="{DA8994E9-ADCB-47E6-A8E6-F1854B2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19" y="5014138"/>
            <a:ext cx="1866718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Webチャット</a:t>
            </a:r>
          </a:p>
        </p:txBody>
      </p:sp>
      <p:sp>
        <p:nvSpPr>
          <p:cNvPr id="10" name="Web音声会話">
            <a:extLst xmlns:a="http://schemas.openxmlformats.org/drawingml/2006/main">
              <a:ext uri="{FF2B5EF4-FFF2-40B4-BE49-F238E27FC236}">
                <a16:creationId xmlns:a16="http://schemas.microsoft.com/office/drawing/2014/main" id="{990F2268-56C8-4982-8E55-6C4AFCD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742" y="5014138"/>
            <a:ext cx="1735464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Web音声会話</a:t>
            </a:r>
          </a:p>
        </p:txBody>
      </p:sp>
      <p:sp>
        <p:nvSpPr>
          <p:cNvPr id="11" name="LINE連携">
            <a:extLst xmlns:a="http://schemas.openxmlformats.org/drawingml/2006/main">
              <a:ext uri="{FF2B5EF4-FFF2-40B4-BE49-F238E27FC236}">
                <a16:creationId xmlns:a16="http://schemas.microsoft.com/office/drawing/2014/main" id="{77279073-1268-4446-AA14-2CD318D1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876" y="5014138"/>
            <a:ext cx="1254201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LINE連携</a:t>
            </a:r>
          </a:p>
        </p:txBody>
      </p:sp>
      <p:sp>
        <p:nvSpPr>
          <p:cNvPr id="12" name="AI受電">
            <a:extLst xmlns:a="http://schemas.openxmlformats.org/drawingml/2006/main">
              <a:ext uri="{FF2B5EF4-FFF2-40B4-BE49-F238E27FC236}">
                <a16:creationId xmlns:a16="http://schemas.microsoft.com/office/drawing/2014/main" id="{14A7F2EA-77DF-483C-AB74-25970645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16" y="5014138"/>
            <a:ext cx="1771923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AI受電</a:t>
            </a:r>
          </a:p>
        </p:txBody>
      </p:sp>
      <p:sp>
        <p:nvSpPr>
          <p:cNvPr id="13" name="AI架電">
            <a:extLst xmlns:a="http://schemas.openxmlformats.org/drawingml/2006/main">
              <a:ext uri="{FF2B5EF4-FFF2-40B4-BE49-F238E27FC236}">
                <a16:creationId xmlns:a16="http://schemas.microsoft.com/office/drawing/2014/main" id="{11BB4B3F-AF61-4181-9ABB-E594A98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263" y="5014138"/>
            <a:ext cx="1713589" cy="34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AI架電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2AC5D135-65D0-4859-89A9-3EE6A085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440" y="5568026"/>
            <a:ext cx="7415828" cy="54659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5" name="単独で導入し、必要に応じて組み合わせられます">
            <a:extLst xmlns:a="http://schemas.openxmlformats.org/drawingml/2006/main">
              <a:ext uri="{FF2B5EF4-FFF2-40B4-BE49-F238E27FC236}">
                <a16:creationId xmlns:a16="http://schemas.microsoft.com/office/drawing/2014/main" id="{55B0254D-3C17-4A05-A4F3-77CD73D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737" y="5706497"/>
            <a:ext cx="7051234" cy="37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2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単独で導入し、必要に応じて組み合わせられます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15412607-289D-4164-A79B-D4D57A4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C4BDD210-E3B1-4802-87FF-7E033A9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18" name="課題に合わせて選べる2つの製品">
            <a:extLst xmlns:a="http://schemas.openxmlformats.org/drawingml/2006/main">
              <a:ext uri="{FF2B5EF4-FFF2-40B4-BE49-F238E27FC236}">
                <a16:creationId xmlns:a16="http://schemas.microsoft.com/office/drawing/2014/main" id="{AD9E7B72-C6F6-46B0-BEFF-333DCF55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課題に合わせて選べる2つの製品</a:t>
            </a:r>
          </a:p>
        </p:txBody>
      </p:sp>
      <p:sp>
        <p:nvSpPr>
          <p:cNvPr id="19" name="Webでの自己解決と電話業務を、それぞれの入口から支援します。">
            <a:extLst xmlns:a="http://schemas.openxmlformats.org/drawingml/2006/main">
              <a:ext uri="{FF2B5EF4-FFF2-40B4-BE49-F238E27FC236}">
                <a16:creationId xmlns:a16="http://schemas.microsoft.com/office/drawing/2014/main" id="{E5623ADF-0B6B-4E45-9ABF-3EC03ED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Webでの自己解決と電話業務を、それぞれの入口から支援します。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EBB33BB4-62BC-497E-9584-E3B1231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21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90A4DE6E-D4C3-4DDD-9CA3-63B254F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C8204492-28A7-4C6E-8114-E594360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7841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回答のもとになる情報">
            <a:extLst xmlns:a="http://schemas.openxmlformats.org/drawingml/2006/main">
              <a:ext uri="{FF2B5EF4-FFF2-40B4-BE49-F238E27FC236}">
                <a16:creationId xmlns:a16="http://schemas.microsoft.com/office/drawing/2014/main" id="{238C0BA4-71B9-4058-A37A-1A2CFADB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40" y="1559630"/>
            <a:ext cx="4849091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回答のもとになる情報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9B155-F784-401E-A7F9-3D4515333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29df343634b0e"/>
          <a:stretch xmlns:a="http://schemas.openxmlformats.org/drawingml/2006/main"/>
        </p:blipFill>
        <p:spPr>
          <a:xfrm xmlns:a="http://schemas.openxmlformats.org/drawingml/2006/main">
            <a:off x="766814" y="1909454"/>
            <a:ext cx="4394659" cy="2266565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354F76-F1E3-4FDC-AF28-7AF8D46122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0e619dc124f39"/>
          <a:stretch xmlns:a="http://schemas.openxmlformats.org/drawingml/2006/main"/>
        </p:blipFill>
        <p:spPr>
          <a:xfrm xmlns:a="http://schemas.openxmlformats.org/drawingml/2006/main">
            <a:off x="860560" y="4095851"/>
            <a:ext cx="451855" cy="415416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17E6CE-40F7-4D96-A41C-7CC6E38EA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19af833647ef"/>
          <a:stretch xmlns:a="http://schemas.openxmlformats.org/drawingml/2006/main"/>
        </p:blipFill>
        <p:spPr>
          <a:xfrm xmlns:a="http://schemas.openxmlformats.org/drawingml/2006/main">
            <a:off x="875140" y="4554995"/>
            <a:ext cx="437279" cy="408128"/>
          </a:xfrm>
          <a:prstGeom xmlns:a="http://schemas.openxmlformats.org/drawingml/2006/main" prst="rect">
            <a:avLst/>
          </a:prstGeom>
        </p:spPr>
      </p:pic>
      <p:sp>
        <p:nvSpPr>
          <p:cNvPr id="5" name="公式ホームページ">
            <a:extLst xmlns:a="http://schemas.openxmlformats.org/drawingml/2006/main">
              <a:ext uri="{FF2B5EF4-FFF2-40B4-BE49-F238E27FC236}">
                <a16:creationId xmlns:a16="http://schemas.microsoft.com/office/drawing/2014/main" id="{3777B1D7-234D-4656-9C92-09631F28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665" y="4205171"/>
            <a:ext cx="3682392" cy="3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8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公式ホームページ</a:t>
            </a:r>
          </a:p>
        </p:txBody>
      </p:sp>
      <p:sp>
        <p:nvSpPr>
          <p:cNvPr id="6" name="関連ページ・FAQ・公開資料">
            <a:extLst xmlns:a="http://schemas.openxmlformats.org/drawingml/2006/main">
              <a:ext uri="{FF2B5EF4-FFF2-40B4-BE49-F238E27FC236}">
                <a16:creationId xmlns:a16="http://schemas.microsoft.com/office/drawing/2014/main" id="{A173AE73-3618-46CD-B5B8-C1C72A1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665" y="4649739"/>
            <a:ext cx="4338660" cy="3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8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608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関連ページ・FAQ・公開資料</a:t>
            </a:r>
          </a:p>
        </p:txBody>
      </p:sp>
      <p:sp>
        <p:nvSpPr>
          <p:cNvPr id="7" name="rightArrow">
            <a:extLst xmlns:a="http://schemas.openxmlformats.org/drawingml/2006/main">
              <a:ext uri="{FF2B5EF4-FFF2-40B4-BE49-F238E27FC236}">
                <a16:creationId xmlns:a16="http://schemas.microsoft.com/office/drawing/2014/main" id="{9AB57317-7620-4673-B540-BD587088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813" y="2842317"/>
            <a:ext cx="831273" cy="69235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43B6D2F0-32D6-4930-8194-1131E123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010" y="1443022"/>
            <a:ext cx="5191809" cy="3731452"/>
          </a:xfrm>
          <a:prstGeom xmlns:a="http://schemas.openxmlformats.org/drawingml/2006/main" prst="roundRect">
            <a:avLst>
              <a:gd name="adj" fmla="val 4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92">
            <a:solidFill>
              <a:srgbClr val="D3DCE7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87321D3C-9AF5-4519-965D-3901C2C1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301" y="1443022"/>
            <a:ext cx="5177225" cy="451855"/>
          </a:xfrm>
          <a:prstGeom xmlns:a="http://schemas.openxmlformats.org/drawingml/2006/main" prst="roundRect">
            <a:avLst>
              <a:gd name="adj" fmla="val 29048"/>
            </a:avLst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EDCDEC02-30AE-4435-B25B-B39737C5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301" y="1712678"/>
            <a:ext cx="5177225" cy="18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sp>
        <p:nvSpPr>
          <p:cNvPr id="11" name="SwarrowChat">
            <a:extLst xmlns:a="http://schemas.openxmlformats.org/drawingml/2006/main">
              <a:ext uri="{FF2B5EF4-FFF2-40B4-BE49-F238E27FC236}">
                <a16:creationId xmlns:a16="http://schemas.microsoft.com/office/drawing/2014/main" id="{BE2AA903-D69D-4646-83F4-DB5EDF41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933" y="1566918"/>
            <a:ext cx="3718852" cy="36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SwarrowChat</a:t>
            </a:r>
          </a:p>
        </p:txBody>
      </p:sp>
      <p:sp>
        <p:nvSpPr>
          <p:cNvPr id="12" name="ellipse">
            <a:extLst xmlns:a="http://schemas.openxmlformats.org/drawingml/2006/main">
              <a:ext uri="{FF2B5EF4-FFF2-40B4-BE49-F238E27FC236}">
                <a16:creationId xmlns:a16="http://schemas.microsoft.com/office/drawing/2014/main" id="{AAAFC849-8F72-412B-9976-F13C012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880" y="1617934"/>
            <a:ext cx="116670" cy="116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9D5"/>
          </a:solidFill>
          <a:ln xmlns:a="http://schemas.openxmlformats.org/drawingml/2006/main" w="0">
            <a:noFill/>
          </a:ln>
        </p:spPr>
      </p:sp>
      <p:sp>
        <p:nvSpPr>
          <p:cNvPr id="13" name="ellipse">
            <a:extLst xmlns:a="http://schemas.openxmlformats.org/drawingml/2006/main">
              <a:ext uri="{FF2B5EF4-FFF2-40B4-BE49-F238E27FC236}">
                <a16:creationId xmlns:a16="http://schemas.microsoft.com/office/drawing/2014/main" id="{C5BC6D7D-3BA3-48A0-BA47-B2ADB9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636" y="1617934"/>
            <a:ext cx="116670" cy="116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9D5"/>
          </a:solidFill>
          <a:ln xmlns:a="http://schemas.openxmlformats.org/drawingml/2006/main" w="0">
            <a:noFill/>
          </a:ln>
        </p:spPr>
      </p:sp>
      <p:sp>
        <p:nvSpPr>
          <p:cNvPr id="14" name="ellipse">
            <a:extLst xmlns:a="http://schemas.openxmlformats.org/drawingml/2006/main">
              <a:ext uri="{FF2B5EF4-FFF2-40B4-BE49-F238E27FC236}">
                <a16:creationId xmlns:a16="http://schemas.microsoft.com/office/drawing/2014/main" id="{4FACCA51-0539-4C53-B827-5717EB3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2392" y="1617934"/>
            <a:ext cx="116670" cy="116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C9D5"/>
          </a:solidFill>
          <a:ln xmlns:a="http://schemas.openxmlformats.org/drawingml/2006/main" w="0">
            <a:noFill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A994B44D-1F73-46B4-8EE9-120AE5E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1" y="2084366"/>
            <a:ext cx="2238603" cy="583039"/>
          </a:xfrm>
          <a:prstGeom xmlns:a="http://schemas.openxmlformats.org/drawingml/2006/main" prst="roundRect">
            <a:avLst>
              <a:gd name="adj" fmla="val 25013"/>
            </a:avLst>
          </a:prstGeom>
          <a:solidFill xmlns:a="http://schemas.openxmlformats.org/drawingml/2006/main">
            <a:srgbClr val="E9EBF1"/>
          </a:solidFill>
          <a:ln xmlns:a="http://schemas.openxmlformats.org/drawingml/2006/main" w="0">
            <a:noFill/>
          </a:ln>
        </p:spPr>
      </p:sp>
      <p:sp>
        <p:nvSpPr>
          <p:cNvPr id="16" name="必要な書類を知りたい">
            <a:extLst xmlns:a="http://schemas.openxmlformats.org/drawingml/2006/main">
              <a:ext uri="{FF2B5EF4-FFF2-40B4-BE49-F238E27FC236}">
                <a16:creationId xmlns:a16="http://schemas.microsoft.com/office/drawing/2014/main" id="{31DB307A-6F64-4BCC-B621-413D765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713" y="2251989"/>
            <a:ext cx="2019847" cy="3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必要な書類を知りたい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208C01-AA5C-423B-9D8C-37BB0C12B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22da5b119411c"/>
          <a:stretch xmlns:a="http://schemas.openxmlformats.org/drawingml/2006/main"/>
        </p:blipFill>
        <p:spPr>
          <a:xfrm xmlns:a="http://schemas.openxmlformats.org/drawingml/2006/main">
            <a:off x="6672243" y="2893333"/>
            <a:ext cx="699647" cy="721511"/>
          </a:xfrm>
          <a:prstGeom xmlns:a="http://schemas.openxmlformats.org/drawingml/2006/main" prst="rect">
            <a:avLst/>
          </a:prstGeom>
        </p:spPr>
      </p:pic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ABD6DA3A-9A5D-4D57-AD7A-56B68E7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579" y="2856893"/>
            <a:ext cx="3281340" cy="1231671"/>
          </a:xfrm>
          <a:prstGeom xmlns:a="http://schemas.openxmlformats.org/drawingml/2006/main" prst="roundRect">
            <a:avLst>
              <a:gd name="adj" fmla="val 13617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</a:ln>
        </p:spPr>
      </p:sp>
      <p:sp>
        <p:nvSpPr>
          <p:cNvPr id="19" name="公式情報をもとにご案内します">
            <a:extLst xmlns:a="http://schemas.openxmlformats.org/drawingml/2006/main">
              <a:ext uri="{FF2B5EF4-FFF2-40B4-BE49-F238E27FC236}">
                <a16:creationId xmlns:a16="http://schemas.microsoft.com/office/drawing/2014/main" id="{AF2BEA6E-55EF-4256-A15E-153014E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167" y="3126548"/>
            <a:ext cx="2989665" cy="36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公式情報をもとにご案内します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ABDFF3DE-4BBC-443F-B0B7-F27D432A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167" y="3483660"/>
            <a:ext cx="2508402" cy="444567"/>
          </a:xfrm>
          <a:prstGeom xmlns:a="http://schemas.openxmlformats.org/drawingml/2006/main" prst="roundRect">
            <a:avLst>
              <a:gd name="adj" fmla="val 278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584">
            <a:solidFill>
              <a:srgbClr val="E87B35"/>
            </a:solidFill>
          </a:ln>
        </p:spPr>
      </p:sp>
      <p:sp>
        <p:nvSpPr>
          <p:cNvPr id="21" name="参照元ページを確認">
            <a:extLst xmlns:a="http://schemas.openxmlformats.org/drawingml/2006/main">
              <a:ext uri="{FF2B5EF4-FFF2-40B4-BE49-F238E27FC236}">
                <a16:creationId xmlns:a16="http://schemas.microsoft.com/office/drawing/2014/main" id="{731A5062-EB16-4CC3-AD20-1884E6DD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421" y="3585692"/>
            <a:ext cx="2260478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550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参照元ページを確認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09514E82-91FE-4BFA-B361-98A55892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06" y="4343643"/>
            <a:ext cx="4834507" cy="670495"/>
          </a:xfrm>
          <a:prstGeom xmlns:a="http://schemas.openxmlformats.org/drawingml/2006/main" prst="roundRect">
            <a:avLst>
              <a:gd name="adj" fmla="val 18488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80F39935-E57A-43D1-A384-AD0602B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976" y="4452963"/>
            <a:ext cx="4054278" cy="429991"/>
          </a:xfrm>
          <a:prstGeom xmlns:a="http://schemas.openxmlformats.org/drawingml/2006/main" prst="roundRect">
            <a:avLst>
              <a:gd name="adj" fmla="val 254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質問を入力">
            <a:extLst xmlns:a="http://schemas.openxmlformats.org/drawingml/2006/main">
              <a:ext uri="{FF2B5EF4-FFF2-40B4-BE49-F238E27FC236}">
                <a16:creationId xmlns:a16="http://schemas.microsoft.com/office/drawing/2014/main" id="{56EE61B6-B993-4EED-BB28-4975147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522" y="4562283"/>
            <a:ext cx="3390718" cy="320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93" b="0">
                <a:solidFill>
                  <a:srgbClr val="939AA3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939AA3"/>
                </a:solidFill>
                <a:latin typeface="Hiragino Sans"/>
                <a:ea typeface="Hiragino Sans"/>
                <a:cs typeface="Hiragino Sans"/>
              </a:rPr>
              <a:t>質問を入力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D2160F-7AA6-4624-A489-64C510360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028a86f9b41c6"/>
          <a:stretch xmlns:a="http://schemas.openxmlformats.org/drawingml/2006/main"/>
        </p:blipFill>
        <p:spPr>
          <a:xfrm xmlns:a="http://schemas.openxmlformats.org/drawingml/2006/main">
            <a:off x="10901452" y="4482115"/>
            <a:ext cx="422704" cy="408128"/>
          </a:xfrm>
          <a:prstGeom xmlns:a="http://schemas.openxmlformats.org/drawingml/2006/main" prst="rect">
            <a:avLst/>
          </a:prstGeom>
        </p:spPr>
      </p:pic>
      <p:sp>
        <p:nvSpPr>
          <p:cNvPr id="26" name="利用できる入口">
            <a:extLst xmlns:a="http://schemas.openxmlformats.org/drawingml/2006/main">
              <a:ext uri="{FF2B5EF4-FFF2-40B4-BE49-F238E27FC236}">
                <a16:creationId xmlns:a16="http://schemas.microsoft.com/office/drawing/2014/main" id="{E7C2AF58-3263-499E-8CD4-2ED7010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40" y="5298370"/>
            <a:ext cx="3937608" cy="37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利用できる入口</a:t>
            </a: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0719D8-7F7B-4953-B852-DA91A0EF8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9aee5b1154641"/>
          <a:stretch xmlns:a="http://schemas.openxmlformats.org/drawingml/2006/main"/>
        </p:blipFill>
        <p:spPr>
          <a:xfrm xmlns:a="http://schemas.openxmlformats.org/drawingml/2006/main">
            <a:off x="875204" y="5589889"/>
            <a:ext cx="677783" cy="699647"/>
          </a:xfrm>
          <a:prstGeom xmlns:a="http://schemas.openxmlformats.org/drawingml/2006/main" prst="rect">
            <a:avLst/>
          </a:prstGeom>
        </p:spPr>
      </p:pic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65AAB7-0CA7-4024-AC08-9E08914AB7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d77448a614bef"/>
          <a:stretch xmlns:a="http://schemas.openxmlformats.org/drawingml/2006/main"/>
        </p:blipFill>
        <p:spPr>
          <a:xfrm xmlns:a="http://schemas.openxmlformats.org/drawingml/2006/main">
            <a:off x="3463818" y="5589889"/>
            <a:ext cx="685071" cy="685071"/>
          </a:xfrm>
          <a:prstGeom xmlns:a="http://schemas.openxmlformats.org/drawingml/2006/main" prst="rect">
            <a:avLst/>
          </a:prstGeom>
        </p:spPr>
      </p:pic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DBE14A-C384-484C-9B91-9D0D9DE9B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331fd012445cd"/>
          <a:stretch xmlns:a="http://schemas.openxmlformats.org/drawingml/2006/main"/>
        </p:blipFill>
        <p:spPr>
          <a:xfrm xmlns:a="http://schemas.openxmlformats.org/drawingml/2006/main">
            <a:off x="6001390" y="5589889"/>
            <a:ext cx="692359" cy="685071"/>
          </a:xfrm>
          <a:prstGeom xmlns:a="http://schemas.openxmlformats.org/drawingml/2006/main" prst="rect">
            <a:avLst/>
          </a:prstGeom>
        </p:spPr>
      </p:pic>
      <p:sp>
        <p:nvSpPr>
          <p:cNvPr id="30" name="Webチャット">
            <a:extLst xmlns:a="http://schemas.openxmlformats.org/drawingml/2006/main">
              <a:ext uri="{FF2B5EF4-FFF2-40B4-BE49-F238E27FC236}">
                <a16:creationId xmlns:a16="http://schemas.microsoft.com/office/drawing/2014/main" id="{2B555357-3136-4C87-AFB8-77B3145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421" y="5866833"/>
            <a:ext cx="1677129" cy="36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Webチャット</a:t>
            </a:r>
          </a:p>
        </p:txBody>
      </p:sp>
      <p:sp>
        <p:nvSpPr>
          <p:cNvPr id="31" name="Web音声会話">
            <a:extLst xmlns:a="http://schemas.openxmlformats.org/drawingml/2006/main">
              <a:ext uri="{FF2B5EF4-FFF2-40B4-BE49-F238E27FC236}">
                <a16:creationId xmlns:a16="http://schemas.microsoft.com/office/drawing/2014/main" id="{B8A573CB-1EB4-4CC1-967B-95BE615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2" y="5866833"/>
            <a:ext cx="1750048" cy="36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Web音声会話</a:t>
            </a:r>
          </a:p>
        </p:txBody>
      </p:sp>
      <p:sp>
        <p:nvSpPr>
          <p:cNvPr id="32" name="LINE連携">
            <a:extLst xmlns:a="http://schemas.openxmlformats.org/drawingml/2006/main">
              <a:ext uri="{FF2B5EF4-FFF2-40B4-BE49-F238E27FC236}">
                <a16:creationId xmlns:a16="http://schemas.microsoft.com/office/drawing/2014/main" id="{B354ED0C-7C84-4FB2-B443-1CE368E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603" y="5866833"/>
            <a:ext cx="2114641" cy="36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LINE連携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C1680E6C-23DC-4ECA-AE39-52E798A9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129" y="5721073"/>
            <a:ext cx="7292" cy="42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C029AD7F-FE67-48BA-AD93-6B1EC3E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990" y="5721073"/>
            <a:ext cx="7292" cy="42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sp>
        <p:nvSpPr>
          <p:cNvPr id="35" name="画面は機能を説明するイメージ">
            <a:extLst xmlns:a="http://schemas.openxmlformats.org/drawingml/2006/main">
              <a:ext uri="{FF2B5EF4-FFF2-40B4-BE49-F238E27FC236}">
                <a16:creationId xmlns:a16="http://schemas.microsoft.com/office/drawing/2014/main" id="{43209F4B-4639-46ED-8062-B9F54BE5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1" y="5495146"/>
            <a:ext cx="2442775" cy="25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91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091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画面は機能を説明するイメージ</a:t>
            </a:r>
          </a:p>
        </p:txBody>
      </p:sp>
      <p:sp>
        <p:nvSpPr>
          <p:cNvPr id="36" name="05">
            <a:extLst xmlns:a="http://schemas.openxmlformats.org/drawingml/2006/main">
              <a:ext uri="{FF2B5EF4-FFF2-40B4-BE49-F238E27FC236}">
                <a16:creationId xmlns:a16="http://schemas.microsoft.com/office/drawing/2014/main" id="{1BB1B185-5769-473D-93BB-C5247AD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915FF771-78B0-4B69-85CA-B2AD4600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38" name="SwarrowChatの仕組み">
            <a:extLst xmlns:a="http://schemas.openxmlformats.org/drawingml/2006/main">
              <a:ext uri="{FF2B5EF4-FFF2-40B4-BE49-F238E27FC236}">
                <a16:creationId xmlns:a16="http://schemas.microsoft.com/office/drawing/2014/main" id="{BBE52ADD-3C97-475A-8804-11679CA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SwarrowChatの仕組み</a:t>
            </a:r>
          </a:p>
        </p:txBody>
      </p:sp>
      <p:sp>
        <p:nvSpPr>
          <p:cNvPr id="39" name="公式情報をもとに回答し、参照元ページまで案内します。">
            <a:extLst xmlns:a="http://schemas.openxmlformats.org/drawingml/2006/main">
              <a:ext uri="{FF2B5EF4-FFF2-40B4-BE49-F238E27FC236}">
                <a16:creationId xmlns:a16="http://schemas.microsoft.com/office/drawing/2014/main" id="{36FA05AA-4189-47AE-B8B3-0AFE930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公式情報をもとに回答し、参照元ページまで案内します。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49BD1542-D30B-4992-8106-49B294B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41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68734D20-4377-40F9-A08F-4E118F0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42" name="05">
            <a:extLst xmlns:a="http://schemas.openxmlformats.org/drawingml/2006/main">
              <a:ext uri="{FF2B5EF4-FFF2-40B4-BE49-F238E27FC236}">
                <a16:creationId xmlns:a16="http://schemas.microsoft.com/office/drawing/2014/main" id="{D4CFE00D-EC41-4A75-B7E9-D55D97D8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467344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00">
            <a:extLst>
              <a:ext uri="{FF2B5EF4-FFF2-40B4-BE49-F238E27FC236}">
                <ns2:creationId id="{5FFF2EF4-064F-4559-B36A-CB69C3743582}"/>
              </a:ext>
            </a:extLst>
          </p:cNvPr>
          <p:cNvSpPr>
            <a:spLocks noGrp="1"/>
          </p:cNvSpPr>
          <p:nvPr/>
        </p:nvSpPr>
        <p:spPr>
          <a:xfrm>
            <a:off x="474345" y="42291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2" name="">
            <a:extLst>
              <a:ext uri="{FF2B5EF4-FFF2-40B4-BE49-F238E27FC236}">
                <ns2:creationId id="{00E3C3C4-D5B1-45ED-8F3E-E94227794E87}"/>
              </a:ext>
            </a:extLst>
          </p:cNvPr>
          <p:cNvSpPr>
            <a:spLocks noGrp="1"/>
          </p:cNvSpPr>
          <p:nvPr/>
        </p:nvSpPr>
        <p:spPr>
          <a:xfrm>
            <a:off x="919163" y="335280"/>
            <a:ext cx="9525" cy="352425"/>
          </a:xfrm>
          <a:prstGeom prst="rect">
            <a:avLst/>
          </a:prstGeom>
          <a:solidFill>
            <a:srgbClr val="8193A9"/>
          </a:solidFill>
          <a:ln w="0">
            <a:noFill/>
          </a:ln>
        </p:spPr>
      </p:sp>
      <p:sp>
        <p:nvSpPr>
          <p:cNvPr id="3" name="SwarrowChatの自治体活用例">
            <a:extLst>
              <a:ext uri="{FF2B5EF4-FFF2-40B4-BE49-F238E27FC236}">
                <ns2:creationId id="{860234B2-2686-4B3A-9B7D-2B8871E80872}"/>
              </a:ext>
            </a:extLst>
          </p:cNvPr>
          <p:cNvSpPr>
            <a:spLocks noGrp="1"/>
          </p:cNvSpPr>
          <p:nvPr/>
        </p:nvSpPr>
        <p:spPr>
          <a:xfrm>
            <a:off x="1224915" y="29908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SwarrowChatの自治体活用例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5899E54-5EA1-454E-9246-75E7B4D0034C}"/>
              </a:ext>
            </a:extLst>
          </p:cNvPr>
          <p:cNvGraphicFramePr/>
          <p:nvPr/>
        </p:nvGraphicFramePr>
        <p:xfrm>
          <a:off x="2095500" y="1295400"/>
          <a:ext cx="9620250" cy="4857750"/>
        </p:xfrm>
        <a:graphic>
          <a:graphicData uri="http://schemas.openxmlformats.org/drawingml/2006/table">
            <a:tbl>
              <a:tblPr firstRow="0" bandRow="0"/>
              <a:tblGrid>
                <a:gridCol w="1809750"/>
                <a:gridCol w="3524250"/>
                <a:gridCol w="4286250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分野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対象業務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Swarrowの対応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住民課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住民票・戸籍・転入転出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マイナンバーカード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必要な手続き・書類と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参照元ページを案内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ごみ・環境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分別ルール・収集日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粗大ごみ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ごみの出し方と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受付先を案内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子育て・福祉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手当・保育園・健診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予防接種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対象となる制度と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申請・相談先を案内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F7D67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観光・イベント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施設・イベント情報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多言語での一次案内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利用できる施設や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関連ページを案内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>
              <a:ext uri="{FF2B5EF4-FFF2-40B4-BE49-F238E27FC236}">
                <ns2:creationId id="{046E3C67-A206-4279-8569-B9EB644C3C96}"/>
              </a:ext>
            </a:extLst>
          </p:cNvPr>
          <p:cNvPicPr>
            <a:picLocks noChangeAspect="1"/>
          </p:cNvPicPr>
          <p:nvPr/>
        </p:nvPicPr>
        <p:blipFill>
          <a:blip r:embed="R4c0b308b3c5c490d"/>
          <a:stretch/>
        </p:blipFill>
        <p:spPr>
          <a:xfrm>
            <a:off x="552450" y="1867094"/>
            <a:ext cx="1381125" cy="737800"/>
          </a:xfrm>
          <a:prstGeom prst="rect">
            <a:avLst/>
          </a:prstGeom>
        </p:spPr>
      </p:pic>
      <p:pic>
        <p:nvPicPr>
          <p:cNvPr id="6" name="">
            <a:extLst>
              <a:ext uri="{FF2B5EF4-FFF2-40B4-BE49-F238E27FC236}">
                <ns2:creationId id="{00C7D807-5A72-4739-84D4-DF26A881BA43}"/>
              </a:ext>
            </a:extLst>
          </p:cNvPr>
          <p:cNvPicPr>
            <a:picLocks noChangeAspect="1"/>
          </p:cNvPicPr>
          <p:nvPr/>
        </p:nvPicPr>
        <p:blipFill>
          <a:blip r:embed="R66ce7863c215400c"/>
          <a:stretch/>
        </p:blipFill>
        <p:spPr>
          <a:xfrm>
            <a:off x="552450" y="2987662"/>
            <a:ext cx="1381125" cy="735039"/>
          </a:xfrm>
          <a:prstGeom prst="rect">
            <a:avLst/>
          </a:prstGeom>
        </p:spPr>
      </p:pic>
      <p:pic>
        <p:nvPicPr>
          <p:cNvPr id="7" name="">
            <a:extLst>
              <a:ext uri="{FF2B5EF4-FFF2-40B4-BE49-F238E27FC236}">
                <ns2:creationId id="{921F5071-D601-49CA-9B70-7AB3344CAC66}"/>
              </a:ext>
            </a:extLst>
          </p:cNvPr>
          <p:cNvPicPr>
            <a:picLocks noChangeAspect="1"/>
          </p:cNvPicPr>
          <p:nvPr/>
        </p:nvPicPr>
        <p:blipFill>
          <a:blip r:embed="R134e498f9abb4b47"/>
          <a:stretch/>
        </p:blipFill>
        <p:spPr>
          <a:xfrm>
            <a:off x="552450" y="4119563"/>
            <a:ext cx="1381125" cy="709613"/>
          </a:xfrm>
          <a:prstGeom prst="rect">
            <a:avLst/>
          </a:prstGeom>
        </p:spPr>
      </p:pic>
      <p:pic>
        <p:nvPicPr>
          <p:cNvPr id="8" name="">
            <a:extLst>
              <a:ext uri="{FF2B5EF4-FFF2-40B4-BE49-F238E27FC236}">
                <ns2:creationId id="{3BF0A325-1401-4004-A12B-3F1A254D49FC}"/>
              </a:ext>
            </a:extLst>
          </p:cNvPr>
          <p:cNvPicPr>
            <a:picLocks noChangeAspect="1"/>
          </p:cNvPicPr>
          <p:nvPr/>
        </p:nvPicPr>
        <p:blipFill>
          <a:blip r:embed="R0046f2ad50e5429f"/>
          <a:stretch/>
        </p:blipFill>
        <p:spPr>
          <a:xfrm>
            <a:off x="552450" y="5243904"/>
            <a:ext cx="1381125" cy="699304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4A76D08C-44AA-48D4-A9DA-50D577E24322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11430000" cy="9525"/>
          </a:xfrm>
          <a:prstGeom prst="rect">
            <a:avLst/>
          </a:prstGeom>
          <a:solidFill>
            <a:srgbClr val="8C9EB5"/>
          </a:solidFill>
          <a:ln w="0">
            <a:noFill/>
          </a:ln>
        </p:spPr>
      </p:sp>
      <p:sp>
        <p:nvSpPr>
          <p:cNvPr id="10" name="SwarrowChat / SwarrowCall">
            <a:extLst>
              <a:ext uri="{FF2B5EF4-FFF2-40B4-BE49-F238E27FC236}">
                <ns2:creationId id="{CFFA7E9A-F6F6-4EEF-8145-35191C11939E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1" name="00">
            <a:extLst>
              <a:ext uri="{FF2B5EF4-FFF2-40B4-BE49-F238E27FC236}">
                <ns2:creationId id="{6312C343-A2C1-4F23-AA4B-535CBD9D2094}"/>
              </a:ext>
            </a:extLst>
          </p:cNvPr>
          <p:cNvSpPr>
            <a:spLocks noGrp="1"/>
          </p:cNvSpPr>
          <p:nvPr/>
        </p:nvSpPr>
        <p:spPr>
          <a:xfrm>
            <a:off x="11563350" y="655320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ns4:creationId val="816727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0">
            <a:extLst xmlns:a="http://schemas.openxmlformats.org/drawingml/2006/main">
              <a:ext uri="{FF2B5EF4-FFF2-40B4-BE49-F238E27FC236}">
                <a16:creationId xmlns:a16="http://schemas.microsoft.com/office/drawing/2014/main" id="{38A80510-6156-4D62-8619-6972567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" y="42291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BD253-2523-452A-A46E-93B8C570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335280"/>
            <a:ext cx="95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3" name="SwarrowChatの導入事例">
            <a:extLst xmlns:a="http://schemas.openxmlformats.org/drawingml/2006/main">
              <a:ext uri="{FF2B5EF4-FFF2-40B4-BE49-F238E27FC236}">
                <a16:creationId xmlns:a16="http://schemas.microsoft.com/office/drawing/2014/main" id="{BA116856-AFCF-439E-AAA6-3B9F897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" y="29908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SwarrowChatの導入事例</a:t>
            </a:r>
          </a:p>
        </p:txBody>
      </p:sp>
      <p:sp>
        <p:nvSpPr>
          <p:cNvPr id="4" name="宮崎県都城市">
            <a:extLst xmlns:a="http://schemas.openxmlformats.org/drawingml/2006/main">
              <a:ext uri="{FF2B5EF4-FFF2-40B4-BE49-F238E27FC236}">
                <a16:creationId xmlns:a16="http://schemas.microsoft.com/office/drawing/2014/main" id="{C7179BBB-58D2-4990-A316-DA94D9A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rPr>
              <a:t>宮崎県都城市</a:t>
            </a:r>
          </a:p>
        </p:txBody>
      </p:sp>
      <p:sp>
        <p:nvSpPr>
          <p:cNvPr id="5" name="2026年10月1日 公式ホームページで運用開始">
            <a:extLst xmlns:a="http://schemas.openxmlformats.org/drawingml/2006/main">
              <a:ext uri="{FF2B5EF4-FFF2-40B4-BE49-F238E27FC236}">
                <a16:creationId xmlns:a16="http://schemas.microsoft.com/office/drawing/2014/main" id="{C6DCC620-4C66-4BC6-B9BE-F9D77B34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2026年10月1日 公式ホームページで運用開始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2DBE9-9732-4DF7-8117-A8FD2A17D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39d4452264889"/>
          <a:stretch xmlns:a="http://schemas.openxmlformats.org/drawingml/2006/main"/>
        </p:blipFill>
        <p:spPr>
          <a:xfrm xmlns:a="http://schemas.openxmlformats.org/drawingml/2006/main">
            <a:off x="571500" y="2231041"/>
            <a:ext cx="5238750" cy="2382786"/>
          </a:xfrm>
          <a:prstGeom xmlns:a="http://schemas.openxmlformats.org/drawingml/2006/main" prst="rect">
            <a:avLst/>
          </a:prstGeom>
        </p:spPr>
      </p:pic>
      <p:sp>
        <p:nvSpPr>
          <p:cNvPr id="7" name="出典：NHK NEWS WEB（2026年10月17日）">
            <a:extLst xmlns:a="http://schemas.openxmlformats.org/drawingml/2006/main">
              <a:ext uri="{FF2B5EF4-FFF2-40B4-BE49-F238E27FC236}">
                <a16:creationId xmlns:a16="http://schemas.microsoft.com/office/drawing/2014/main" id="{0922E3F5-63A2-469F-AE8F-08880B2F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NHK宮崎放送局「てげビビ！サタデー」で紹介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2026年10月17日放送（画像はイメージ）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92CF8-E05B-4EA4-B45E-93B0821C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5af6786284dc8"/>
          <a:stretch xmlns:a="http://schemas.openxmlformats.org/drawingml/2006/main"/>
        </p:blipFill>
        <p:spPr>
          <a:xfrm xmlns:a="http://schemas.openxmlformats.org/drawingml/2006/main">
            <a:off x="6381750" y="1323975"/>
            <a:ext cx="1390650" cy="1390650"/>
          </a:xfrm>
          <a:prstGeom xmlns:a="http://schemas.openxmlformats.org/drawingml/2006/main" prst="rect">
            <a:avLst/>
          </a:prstGeom>
        </p:spPr>
      </p:pic>
      <p:sp>
        <p:nvSpPr>
          <p:cNvPr id="9" name="都城市">
            <a:extLst xmlns:a="http://schemas.openxmlformats.org/drawingml/2006/main">
              <a:ext uri="{FF2B5EF4-FFF2-40B4-BE49-F238E27FC236}">
                <a16:creationId xmlns:a16="http://schemas.microsoft.com/office/drawing/2014/main" id="{6C8126AA-2CCF-433D-8C35-936C0B0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381125"/>
            <a:ext cx="3609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都城市</a:t>
            </a:r>
          </a:p>
        </p:txBody>
      </p:sp>
      <p:sp>
        <p:nvSpPr>
          <p:cNvPr id="10" name="総合政策部&#10;デジタル統括課 副課長">
            <a:extLst xmlns:a="http://schemas.openxmlformats.org/drawingml/2006/main">
              <a:ext uri="{FF2B5EF4-FFF2-40B4-BE49-F238E27FC236}">
                <a16:creationId xmlns:a16="http://schemas.microsoft.com/office/drawing/2014/main" id="{4EA90CBB-8C6F-41F7-A1FD-B4CE3DA3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90700"/>
            <a:ext cx="3609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総合政策部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デジタル統括課 副課長</a:t>
            </a:r>
          </a:p>
        </p:txBody>
      </p:sp>
      <p:sp>
        <p:nvSpPr>
          <p:cNvPr id="11" name="佐藤 泰格 氏">
            <a:extLst xmlns:a="http://schemas.openxmlformats.org/drawingml/2006/main">
              <a:ext uri="{FF2B5EF4-FFF2-40B4-BE49-F238E27FC236}">
                <a16:creationId xmlns:a16="http://schemas.microsoft.com/office/drawing/2014/main" id="{5DB838ED-7BF5-4B40-BB6C-E1440775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6227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佐藤 泰格 氏</a:t>
            </a:r>
          </a:p>
        </p:txBody>
      </p:sp>
      <p:sp>
        <p:nvSpPr>
          <p:cNvPr id="12" name="都城市のDXを推進し、自治体向け&#10;生成AIシステムの開発や職員向け&#10;研修を手がけられている">
            <a:extLst xmlns:a="http://schemas.openxmlformats.org/drawingml/2006/main">
              <a:ext uri="{FF2B5EF4-FFF2-40B4-BE49-F238E27FC236}">
                <a16:creationId xmlns:a16="http://schemas.microsoft.com/office/drawing/2014/main" id="{52718C3D-4A68-457B-A8E4-063532D3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都城市のDXを推進し、自治体向け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生成AIシステムの開発や職員向け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研修を手がけられているお立場から、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SwarrowChatのサービス改善や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自治体でのAI導入・活用について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ご助言をいただいています。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812C8-54F1-4315-BB74-C7223749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14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A0A39EF8-6E5F-4DD3-BACD-06B141CE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5" name="00">
            <a:extLst xmlns:a="http://schemas.openxmlformats.org/drawingml/2006/main">
              <a:ext uri="{FF2B5EF4-FFF2-40B4-BE49-F238E27FC236}">
                <a16:creationId xmlns:a16="http://schemas.microsoft.com/office/drawing/2014/main" id="{780433F6-4D85-4E55-B747-98D9CD7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553200"/>
            <a:ext cx="295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9462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8D960-EDDA-4827-AE9F-E3445D61B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fe0bb3ee54443"/>
          <a:stretch xmlns:a="http://schemas.openxmlformats.org/drawingml/2006/main"/>
        </p:blipFill>
        <p:spPr>
          <a:xfrm xmlns:a="http://schemas.openxmlformats.org/drawingml/2006/main">
            <a:off x="481966" y="2164533"/>
            <a:ext cx="2645541" cy="2273853"/>
          </a:xfrm>
          <a:prstGeom xmlns:a="http://schemas.openxmlformats.org/drawingml/2006/main" prst="rect">
            <a:avLst/>
          </a:prstGeom>
        </p:spPr>
      </p:pic>
      <p:sp>
        <p:nvSpPr>
          <p:cNvPr id="2" name="rightArrow">
            <a:extLst xmlns:a="http://schemas.openxmlformats.org/drawingml/2006/main">
              <a:ext uri="{FF2B5EF4-FFF2-40B4-BE49-F238E27FC236}">
                <a16:creationId xmlns:a16="http://schemas.microsoft.com/office/drawing/2014/main" id="{5EA44BAD-51DF-4647-8E11-FA287127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837" y="3257732"/>
            <a:ext cx="1348995" cy="35711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3" name="ellipse">
            <a:extLst xmlns:a="http://schemas.openxmlformats.org/drawingml/2006/main">
              <a:ext uri="{FF2B5EF4-FFF2-40B4-BE49-F238E27FC236}">
                <a16:creationId xmlns:a16="http://schemas.microsoft.com/office/drawing/2014/main" id="{0A9E9C0E-4E0A-4134-8F6E-C4C2E6E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086" y="2718421"/>
            <a:ext cx="1494833" cy="1494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sp>
        <p:nvSpPr>
          <p:cNvPr id="4" name="AI">
            <a:extLst xmlns:a="http://schemas.openxmlformats.org/drawingml/2006/main">
              <a:ext uri="{FF2B5EF4-FFF2-40B4-BE49-F238E27FC236}">
                <a16:creationId xmlns:a16="http://schemas.microsoft.com/office/drawing/2014/main" id="{A49B883D-76A7-48F8-829F-42BAEC52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086" y="3090108"/>
            <a:ext cx="1494833" cy="8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29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6029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A7A4100F-2A98-4B67-9A0B-222D100A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962" y="3388916"/>
            <a:ext cx="1254201" cy="9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AC2A9E67-EFDA-4968-9451-034CD3E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20" y="1880302"/>
            <a:ext cx="94794" cy="29443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7" name="rightArrow">
            <a:extLst xmlns:a="http://schemas.openxmlformats.org/drawingml/2006/main">
              <a:ext uri="{FF2B5EF4-FFF2-40B4-BE49-F238E27FC236}">
                <a16:creationId xmlns:a16="http://schemas.microsoft.com/office/drawing/2014/main" id="{99DAF619-8B38-49A4-800E-97224015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71" y="1756406"/>
            <a:ext cx="765646" cy="3425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09E4BA2F-C609-418E-BC36-1D45580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44" y="1501326"/>
            <a:ext cx="3478220" cy="852695"/>
          </a:xfrm>
          <a:prstGeom xmlns:a="http://schemas.openxmlformats.org/drawingml/2006/main" prst="roundRect">
            <a:avLst>
              <a:gd name="adj" fmla="val 17103"/>
            </a:avLst>
          </a:prstGeom>
          <a:solidFill xmlns:a="http://schemas.openxmlformats.org/drawingml/2006/main">
            <a:srgbClr val="E0F0FC"/>
          </a:solidFill>
          <a:ln xmlns:a="http://schemas.openxmlformats.org/drawingml/2006/main" w="0">
            <a:noFill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6D1EAB-5865-4D89-B770-25C64CB11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ba6e61e224432"/>
          <a:stretch xmlns:a="http://schemas.openxmlformats.org/drawingml/2006/main"/>
        </p:blipFill>
        <p:spPr>
          <a:xfrm xmlns:a="http://schemas.openxmlformats.org/drawingml/2006/main">
            <a:off x="8531617" y="1610646"/>
            <a:ext cx="502871" cy="619479"/>
          </a:xfrm>
          <a:prstGeom xmlns:a="http://schemas.openxmlformats.org/drawingml/2006/main" prst="rect">
            <a:avLst/>
          </a:prstGeom>
        </p:spPr>
      </p:pic>
      <p:sp>
        <p:nvSpPr>
          <p:cNvPr id="10" name="定型案内">
            <a:extLst xmlns:a="http://schemas.openxmlformats.org/drawingml/2006/main">
              <a:ext uri="{FF2B5EF4-FFF2-40B4-BE49-F238E27FC236}">
                <a16:creationId xmlns:a16="http://schemas.microsoft.com/office/drawing/2014/main" id="{54E36DFF-8FFB-42C5-B0E9-3A98CF51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837" y="1792846"/>
            <a:ext cx="2399024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定型案内</a:t>
            </a:r>
          </a:p>
        </p:txBody>
      </p:sp>
      <p:sp>
        <p:nvSpPr>
          <p:cNvPr id="11" name="rightArrow">
            <a:extLst xmlns:a="http://schemas.openxmlformats.org/drawingml/2006/main">
              <a:ext uri="{FF2B5EF4-FFF2-40B4-BE49-F238E27FC236}">
                <a16:creationId xmlns:a16="http://schemas.microsoft.com/office/drawing/2014/main" id="{836577A9-D1A1-49B5-801F-C0B0102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71" y="2732997"/>
            <a:ext cx="765646" cy="3425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FE7A94DC-E10D-4CF1-B8BE-01570F1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44" y="2477917"/>
            <a:ext cx="3478220" cy="852695"/>
          </a:xfrm>
          <a:prstGeom xmlns:a="http://schemas.openxmlformats.org/drawingml/2006/main" prst="roundRect">
            <a:avLst>
              <a:gd name="adj" fmla="val 17103"/>
            </a:avLst>
          </a:prstGeom>
          <a:solidFill xmlns:a="http://schemas.openxmlformats.org/drawingml/2006/main">
            <a:srgbClr val="E0F0FC"/>
          </a:solidFill>
          <a:ln xmlns:a="http://schemas.openxmlformats.org/drawingml/2006/main" w="0">
            <a:noFill/>
          </a:ln>
        </p:spPr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4F6941-EA23-4309-B92C-0BC4AB629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4fc836597430b"/>
          <a:stretch xmlns:a="http://schemas.openxmlformats.org/drawingml/2006/main"/>
        </p:blipFill>
        <p:spPr>
          <a:xfrm xmlns:a="http://schemas.openxmlformats.org/drawingml/2006/main">
            <a:off x="8466054" y="2558085"/>
            <a:ext cx="743375" cy="685071"/>
          </a:xfrm>
          <a:prstGeom xmlns:a="http://schemas.openxmlformats.org/drawingml/2006/main" prst="rect">
            <a:avLst/>
          </a:prstGeom>
        </p:spPr>
      </p:pic>
      <p:sp>
        <p:nvSpPr>
          <p:cNvPr id="14" name="予約・折り返し受付">
            <a:extLst xmlns:a="http://schemas.openxmlformats.org/drawingml/2006/main">
              <a:ext uri="{FF2B5EF4-FFF2-40B4-BE49-F238E27FC236}">
                <a16:creationId xmlns:a16="http://schemas.microsoft.com/office/drawing/2014/main" id="{F2239127-4EA2-40B6-8E93-1278C67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837" y="2769437"/>
            <a:ext cx="2399024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予約・折り返し受付</a:t>
            </a:r>
          </a:p>
        </p:txBody>
      </p:sp>
      <p:sp>
        <p:nvSpPr>
          <p:cNvPr id="15" name="rightArrow">
            <a:extLst xmlns:a="http://schemas.openxmlformats.org/drawingml/2006/main">
              <a:ext uri="{FF2B5EF4-FFF2-40B4-BE49-F238E27FC236}">
                <a16:creationId xmlns:a16="http://schemas.microsoft.com/office/drawing/2014/main" id="{B4DE5ECA-92CB-4F21-98D6-78F295B0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71" y="3709588"/>
            <a:ext cx="765646" cy="3425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C68DAE64-C78B-4E46-92C6-0E137E8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44" y="3454508"/>
            <a:ext cx="3478220" cy="852695"/>
          </a:xfrm>
          <a:prstGeom xmlns:a="http://schemas.openxmlformats.org/drawingml/2006/main" prst="roundRect">
            <a:avLst>
              <a:gd name="adj" fmla="val 17103"/>
            </a:avLst>
          </a:prstGeom>
          <a:solidFill xmlns:a="http://schemas.openxmlformats.org/drawingml/2006/main">
            <a:srgbClr val="E0F0FC"/>
          </a:solidFill>
          <a:ln xmlns:a="http://schemas.openxmlformats.org/drawingml/2006/main" w="0">
            <a:noFill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F1AC49-B463-4965-81BA-8603C9155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9e4e26f504ac8"/>
          <a:stretch xmlns:a="http://schemas.openxmlformats.org/drawingml/2006/main"/>
        </p:blipFill>
        <p:spPr>
          <a:xfrm xmlns:a="http://schemas.openxmlformats.org/drawingml/2006/main">
            <a:off x="8509755" y="3578404"/>
            <a:ext cx="553887" cy="604903"/>
          </a:xfrm>
          <a:prstGeom xmlns:a="http://schemas.openxmlformats.org/drawingml/2006/main" prst="rect">
            <a:avLst/>
          </a:prstGeom>
        </p:spPr>
      </p:pic>
      <p:sp>
        <p:nvSpPr>
          <p:cNvPr id="18" name="担当課案内・転送">
            <a:extLst xmlns:a="http://schemas.openxmlformats.org/drawingml/2006/main">
              <a:ext uri="{FF2B5EF4-FFF2-40B4-BE49-F238E27FC236}">
                <a16:creationId xmlns:a16="http://schemas.microsoft.com/office/drawing/2014/main" id="{598E4CB9-5499-42BA-B868-C982746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837" y="3746028"/>
            <a:ext cx="2399024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担当課案内・転送</a:t>
            </a:r>
          </a:p>
        </p:txBody>
      </p:sp>
      <p:sp>
        <p:nvSpPr>
          <p:cNvPr id="19" name="rightArrow">
            <a:extLst xmlns:a="http://schemas.openxmlformats.org/drawingml/2006/main">
              <a:ext uri="{FF2B5EF4-FFF2-40B4-BE49-F238E27FC236}">
                <a16:creationId xmlns:a16="http://schemas.microsoft.com/office/drawing/2014/main" id="{A7153654-0DF0-4D91-A346-90140C0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871" y="4686179"/>
            <a:ext cx="765646" cy="3425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164E8DC5-7D3E-4EB4-90F1-FA7FE48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44" y="4431099"/>
            <a:ext cx="3478220" cy="852695"/>
          </a:xfrm>
          <a:prstGeom xmlns:a="http://schemas.openxmlformats.org/drawingml/2006/main" prst="roundRect">
            <a:avLst>
              <a:gd name="adj" fmla="val 17103"/>
            </a:avLst>
          </a:prstGeom>
          <a:solidFill xmlns:a="http://schemas.openxmlformats.org/drawingml/2006/main">
            <a:srgbClr val="E0F0FC"/>
          </a:solidFill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A335E0-26B8-472A-8737-FDAAD6DEB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e90896e54462"/>
          <a:stretch xmlns:a="http://schemas.openxmlformats.org/drawingml/2006/main"/>
        </p:blipFill>
        <p:spPr>
          <a:xfrm xmlns:a="http://schemas.openxmlformats.org/drawingml/2006/main">
            <a:off x="8546193" y="4518555"/>
            <a:ext cx="473719" cy="663207"/>
          </a:xfrm>
          <a:prstGeom xmlns:a="http://schemas.openxmlformats.org/drawingml/2006/main" prst="rect">
            <a:avLst/>
          </a:prstGeom>
        </p:spPr>
      </p:pic>
      <p:sp>
        <p:nvSpPr>
          <p:cNvPr id="22" name="SMSで情報を案内">
            <a:extLst xmlns:a="http://schemas.openxmlformats.org/drawingml/2006/main">
              <a:ext uri="{FF2B5EF4-FFF2-40B4-BE49-F238E27FC236}">
                <a16:creationId xmlns:a16="http://schemas.microsoft.com/office/drawing/2014/main" id="{AE2189A1-AF1D-4096-8BE5-38DC4CF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837" y="4722618"/>
            <a:ext cx="2399024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SMSで情報を案内</a:t>
            </a:r>
          </a:p>
        </p:txBody>
      </p:sp>
      <p:sp>
        <p:nvSpPr>
          <p:cNvPr id="23" name="住民からの電話">
            <a:extLst xmlns:a="http://schemas.openxmlformats.org/drawingml/2006/main">
              <a:ext uri="{FF2B5EF4-FFF2-40B4-BE49-F238E27FC236}">
                <a16:creationId xmlns:a16="http://schemas.microsoft.com/office/drawing/2014/main" id="{3307E6F8-6287-4B4C-9DBE-981C5E0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31" y="4533131"/>
            <a:ext cx="3317799" cy="48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26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526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住民からの電話</a:t>
            </a:r>
          </a:p>
        </p:txBody>
      </p:sp>
      <p:sp>
        <p:nvSpPr>
          <p:cNvPr id="24" name="代表電話・時間外・繁忙時">
            <a:extLst xmlns:a="http://schemas.openxmlformats.org/drawingml/2006/main">
              <a:ext uri="{FF2B5EF4-FFF2-40B4-BE49-F238E27FC236}">
                <a16:creationId xmlns:a16="http://schemas.microsoft.com/office/drawing/2014/main" id="{5849E85A-4691-46A3-A632-DA5458C2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79" y="5050578"/>
            <a:ext cx="3208421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9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代表電話・時間外・繁忙時</a:t>
            </a:r>
          </a:p>
        </p:txBody>
      </p:sp>
      <p:sp>
        <p:nvSpPr>
          <p:cNvPr id="25" name="AIが用件を聞き取り">
            <a:extLst xmlns:a="http://schemas.openxmlformats.org/drawingml/2006/main">
              <a:ext uri="{FF2B5EF4-FFF2-40B4-BE49-F238E27FC236}">
                <a16:creationId xmlns:a16="http://schemas.microsoft.com/office/drawing/2014/main" id="{AA11FF9C-E7D4-45F7-9A80-711FCFB2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402" y="4372795"/>
            <a:ext cx="3325091" cy="43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39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AIが用件を聞き取り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BA99D45D-2546-42F3-A872-CE6476D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36" y="5589889"/>
            <a:ext cx="11360727" cy="597615"/>
          </a:xfrm>
          <a:prstGeom xmlns:a="http://schemas.openxmlformats.org/drawingml/2006/main" prst="roundRect">
            <a:avLst>
              <a:gd name="adj" fmla="val 23183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2A5C5D-BB35-44E6-BFD5-A58E3A9CD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5c6944ebd44d5"/>
          <a:stretch xmlns:a="http://schemas.openxmlformats.org/drawingml/2006/main"/>
        </p:blipFill>
        <p:spPr>
          <a:xfrm xmlns:a="http://schemas.openxmlformats.org/drawingml/2006/main">
            <a:off x="3434579" y="5691921"/>
            <a:ext cx="415416" cy="415416"/>
          </a:xfrm>
          <a:prstGeom xmlns:a="http://schemas.openxmlformats.org/drawingml/2006/main" prst="rect">
            <a:avLst/>
          </a:prstGeom>
        </p:spPr>
      </p:pic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CD1012C5-1219-43E4-A4F4-98A6317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61" y="5757513"/>
            <a:ext cx="7292" cy="284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BBF"/>
          </a:solidFill>
          <a:ln xmlns:a="http://schemas.openxmlformats.org/drawingml/2006/main" w="0">
            <a:noFill/>
          </a:ln>
        </p:spPr>
      </p:sp>
      <p:sp>
        <p:nvSpPr>
          <p:cNvPr id="29" name="転送先・受付項目・時間外の対応を事前に設定">
            <a:extLst xmlns:a="http://schemas.openxmlformats.org/drawingml/2006/main">
              <a:ext uri="{FF2B5EF4-FFF2-40B4-BE49-F238E27FC236}">
                <a16:creationId xmlns:a16="http://schemas.microsoft.com/office/drawing/2014/main" id="{A4FF57E7-F60C-449A-879D-A77B37E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03" y="5786665"/>
            <a:ext cx="6832478" cy="357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転送先・受付項目・時間外の対応を事前に設定</a:t>
            </a:r>
          </a:p>
        </p:txBody>
      </p:sp>
      <p:sp>
        <p:nvSpPr>
          <p:cNvPr id="30" name="07">
            <a:extLst xmlns:a="http://schemas.openxmlformats.org/drawingml/2006/main">
              <a:ext uri="{FF2B5EF4-FFF2-40B4-BE49-F238E27FC236}">
                <a16:creationId xmlns:a16="http://schemas.microsoft.com/office/drawing/2014/main" id="{1AC0C423-0256-40A0-9957-81630A8D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2F08ADEF-BA5A-460D-9C24-894A5DF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32" name="SwarrowCallのAI受電">
            <a:extLst xmlns:a="http://schemas.openxmlformats.org/drawingml/2006/main">
              <a:ext uri="{FF2B5EF4-FFF2-40B4-BE49-F238E27FC236}">
                <a16:creationId xmlns:a16="http://schemas.microsoft.com/office/drawing/2014/main" id="{04C4B587-FB2D-4A87-A44A-8C8A687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SwarrowCallのAI受電</a:t>
            </a:r>
          </a:p>
        </p:txBody>
      </p:sp>
      <p:sp>
        <p:nvSpPr>
          <p:cNvPr id="33" name="用件を聞き取り、案内や受付から必要な担当窓口への転送まで支援します。">
            <a:extLst xmlns:a="http://schemas.openxmlformats.org/drawingml/2006/main">
              <a:ext uri="{FF2B5EF4-FFF2-40B4-BE49-F238E27FC236}">
                <a16:creationId xmlns:a16="http://schemas.microsoft.com/office/drawing/2014/main" id="{1CAADB2F-7814-40D1-8708-9C57CBD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用件を聞き取り、案内や受付から必要な担当窓口への転送まで支援します。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9021A46E-2C16-4204-A1D4-581ACE29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35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9B59FD4C-7F24-4DE6-9EA7-21D0849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36" name="07">
            <a:extLst xmlns:a="http://schemas.openxmlformats.org/drawingml/2006/main">
              <a:ext uri="{FF2B5EF4-FFF2-40B4-BE49-F238E27FC236}">
                <a16:creationId xmlns:a16="http://schemas.microsoft.com/office/drawing/2014/main" id="{0703EDC8-0056-4282-9443-5783AB0F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016749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00">
            <a:extLst>
              <a:ext uri="{FF2B5EF4-FFF2-40B4-BE49-F238E27FC236}">
                <ns2:creationId id="{2C8FE138-7243-46AF-BB01-048B76865B16}"/>
              </a:ext>
            </a:extLst>
          </p:cNvPr>
          <p:cNvSpPr>
            <a:spLocks noGrp="1"/>
          </p:cNvSpPr>
          <p:nvPr/>
        </p:nvSpPr>
        <p:spPr>
          <a:xfrm>
            <a:off x="474345" y="42291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2" name="">
            <a:extLst>
              <a:ext uri="{FF2B5EF4-FFF2-40B4-BE49-F238E27FC236}">
                <ns2:creationId id="{AFFE0A68-8909-4FF8-9897-1634788A882D}"/>
              </a:ext>
            </a:extLst>
          </p:cNvPr>
          <p:cNvSpPr>
            <a:spLocks noGrp="1"/>
          </p:cNvSpPr>
          <p:nvPr/>
        </p:nvSpPr>
        <p:spPr>
          <a:xfrm>
            <a:off x="919163" y="335280"/>
            <a:ext cx="9525" cy="352425"/>
          </a:xfrm>
          <a:prstGeom prst="rect">
            <a:avLst/>
          </a:prstGeom>
          <a:solidFill>
            <a:srgbClr val="8193A9"/>
          </a:solidFill>
          <a:ln w="0">
            <a:noFill/>
          </a:ln>
        </p:spPr>
      </p:sp>
      <p:sp>
        <p:nvSpPr>
          <p:cNvPr id="3" name="AI受電の自治体活用例">
            <a:extLst>
              <a:ext uri="{FF2B5EF4-FFF2-40B4-BE49-F238E27FC236}">
                <ns2:creationId id="{A44FFAA9-E467-4189-B06F-BE07FEADB669}"/>
              </a:ext>
            </a:extLst>
          </p:cNvPr>
          <p:cNvSpPr>
            <a:spLocks noGrp="1"/>
          </p:cNvSpPr>
          <p:nvPr/>
        </p:nvSpPr>
        <p:spPr>
          <a:xfrm>
            <a:off x="1224915" y="29908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AI受電の自治体活用例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A8ECD58-A192-448D-831B-F5179D2D5341}"/>
              </a:ext>
            </a:extLst>
          </p:cNvPr>
          <p:cNvGraphicFramePr/>
          <p:nvPr/>
        </p:nvGraphicFramePr>
        <p:xfrm>
          <a:off x="2095500" y="1295400"/>
          <a:ext cx="9620250" cy="4857750"/>
        </p:xfrm>
        <a:graphic>
          <a:graphicData uri="http://schemas.openxmlformats.org/drawingml/2006/table">
            <a:tbl>
              <a:tblPr firstRow="0" bandRow="0"/>
              <a:tblGrid>
                <a:gridCol w="1809750"/>
                <a:gridCol w="3524250"/>
                <a:gridCol w="4286250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分野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対象業務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Swarrowの対応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代表電話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開庁時間・担当課の案内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用件を聞き取り、担当課へ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案内・転送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住民課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マイナンバーカードの案内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受取・更新の来庁予約や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予約希望を受付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子育て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手当・保育園・母子保健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健診・予防接種などの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問い合わせに一次対応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税務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納期限・納付方法・証明書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手続き方法と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担当窓口を案内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高齢者福祉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介護保険・福祉サービス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相談窓口の案内や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折り返し希望を受付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15EA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健康増進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健診の日程・会場・持ち物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予約変更や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受診票の問い合わせを受付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>
              <a:ext uri="{FF2B5EF4-FFF2-40B4-BE49-F238E27FC236}">
                <ns2:creationId id="{1E4A0CDF-7409-474B-B9C8-19D53C779CA2}"/>
              </a:ext>
            </a:extLst>
          </p:cNvPr>
          <p:cNvPicPr>
            <a:picLocks noChangeAspect="1"/>
          </p:cNvPicPr>
          <p:nvPr/>
        </p:nvPicPr>
        <p:blipFill>
          <a:blip r:embed="R68c07e3da0ce40e3"/>
          <a:stretch/>
        </p:blipFill>
        <p:spPr>
          <a:xfrm>
            <a:off x="927100" y="1733550"/>
            <a:ext cx="631825" cy="631825"/>
          </a:xfrm>
          <a:prstGeom prst="rect">
            <a:avLst/>
          </a:prstGeom>
        </p:spPr>
      </p:pic>
      <p:pic>
        <p:nvPicPr>
          <p:cNvPr id="6" name="">
            <a:extLst>
              <a:ext uri="{FF2B5EF4-FFF2-40B4-BE49-F238E27FC236}">
                <ns2:creationId id="{6B02B6D8-FE5E-4045-BEE2-3572C69545E9}"/>
              </a:ext>
            </a:extLst>
          </p:cNvPr>
          <p:cNvPicPr>
            <a:picLocks noChangeAspect="1"/>
          </p:cNvPicPr>
          <p:nvPr/>
        </p:nvPicPr>
        <p:blipFill>
          <a:blip r:embed="Rdd391a50a2664e8c"/>
          <a:stretch/>
        </p:blipFill>
        <p:spPr>
          <a:xfrm>
            <a:off x="848698" y="2479675"/>
            <a:ext cx="788628" cy="631825"/>
          </a:xfrm>
          <a:prstGeom prst="rect">
            <a:avLst/>
          </a:prstGeom>
        </p:spPr>
      </p:pic>
      <p:pic>
        <p:nvPicPr>
          <p:cNvPr id="7" name="">
            <a:extLst>
              <a:ext uri="{FF2B5EF4-FFF2-40B4-BE49-F238E27FC236}">
                <ns2:creationId id="{EFFF0316-1B69-4985-8EAE-8D695312BC97}"/>
              </a:ext>
            </a:extLst>
          </p:cNvPr>
          <p:cNvPicPr>
            <a:picLocks noChangeAspect="1"/>
          </p:cNvPicPr>
          <p:nvPr/>
        </p:nvPicPr>
        <p:blipFill>
          <a:blip r:embed="Rf8426edea9934391"/>
          <a:stretch/>
        </p:blipFill>
        <p:spPr>
          <a:xfrm>
            <a:off x="904680" y="3225800"/>
            <a:ext cx="676664" cy="631825"/>
          </a:xfrm>
          <a:prstGeom prst="rect">
            <a:avLst/>
          </a:prstGeom>
        </p:spPr>
      </p:pic>
      <p:pic>
        <p:nvPicPr>
          <p:cNvPr id="8" name="">
            <a:extLst>
              <a:ext uri="{FF2B5EF4-FFF2-40B4-BE49-F238E27FC236}">
                <ns2:creationId id="{016DC1ED-84E9-4E5D-9B83-3B73626069AB}"/>
              </a:ext>
            </a:extLst>
          </p:cNvPr>
          <p:cNvPicPr>
            <a:picLocks noChangeAspect="1"/>
          </p:cNvPicPr>
          <p:nvPr/>
        </p:nvPicPr>
        <p:blipFill>
          <a:blip r:embed="R7a1fcc54f72a41ce"/>
          <a:stretch/>
        </p:blipFill>
        <p:spPr>
          <a:xfrm>
            <a:off x="935469" y="3971925"/>
            <a:ext cx="615088" cy="631825"/>
          </a:xfrm>
          <a:prstGeom prst="rect">
            <a:avLst/>
          </a:prstGeom>
        </p:spPr>
      </p:pic>
      <p:pic>
        <p:nvPicPr>
          <p:cNvPr id="9" name="">
            <a:extLst>
              <a:ext uri="{FF2B5EF4-FFF2-40B4-BE49-F238E27FC236}">
                <ns2:creationId id="{DF8FCD33-2C02-4348-AED8-06D5E8A46296}"/>
              </a:ext>
            </a:extLst>
          </p:cNvPr>
          <p:cNvPicPr>
            <a:picLocks noChangeAspect="1"/>
          </p:cNvPicPr>
          <p:nvPr/>
        </p:nvPicPr>
        <p:blipFill>
          <a:blip r:embed="Rfaa654cee2114448"/>
          <a:stretch/>
        </p:blipFill>
        <p:spPr>
          <a:xfrm>
            <a:off x="925150" y="4718050"/>
            <a:ext cx="635725" cy="631825"/>
          </a:xfrm>
          <a:prstGeom prst="rect">
            <a:avLst/>
          </a:prstGeom>
        </p:spPr>
      </p:pic>
      <p:pic>
        <p:nvPicPr>
          <p:cNvPr id="10" name="">
            <a:extLst>
              <a:ext uri="{FF2B5EF4-FFF2-40B4-BE49-F238E27FC236}">
                <ns2:creationId id="{97BB3315-9354-49D2-9C21-356DAE578EDA}"/>
              </a:ext>
            </a:extLst>
          </p:cNvPr>
          <p:cNvPicPr>
            <a:picLocks noChangeAspect="1"/>
          </p:cNvPicPr>
          <p:nvPr/>
        </p:nvPicPr>
        <p:blipFill>
          <a:blip r:embed="R6d8b2c701b044bcd"/>
          <a:stretch/>
        </p:blipFill>
        <p:spPr>
          <a:xfrm>
            <a:off x="885112" y="5464175"/>
            <a:ext cx="715802" cy="631825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52C64BC6-AD7B-435E-917E-F47C3E295D4F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11430000" cy="9525"/>
          </a:xfrm>
          <a:prstGeom prst="rect">
            <a:avLst/>
          </a:prstGeom>
          <a:solidFill>
            <a:srgbClr val="8C9EB5"/>
          </a:solidFill>
          <a:ln w="0">
            <a:noFill/>
          </a:ln>
        </p:spPr>
      </p:sp>
      <p:sp>
        <p:nvSpPr>
          <p:cNvPr id="12" name="SwarrowChat / SwarrowCall">
            <a:extLst>
              <a:ext uri="{FF2B5EF4-FFF2-40B4-BE49-F238E27FC236}">
                <ns2:creationId id="{C0538FEA-EB7D-426A-B058-EC62E43779F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3" name="00">
            <a:extLst>
              <a:ext uri="{FF2B5EF4-FFF2-40B4-BE49-F238E27FC236}">
                <ns2:creationId id="{2AAB7E79-FA4F-47A6-9031-71C679237191}"/>
              </a:ext>
            </a:extLst>
          </p:cNvPr>
          <p:cNvSpPr>
            <a:spLocks noGrp="1"/>
          </p:cNvSpPr>
          <p:nvPr/>
        </p:nvSpPr>
        <p:spPr>
          <a:xfrm>
            <a:off x="11563350" y="655320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ns4:creationId val="1124855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A2BB5-4BAD-4F04-9062-249A4D2C7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d7d99b794460e"/>
          <a:stretch xmlns:a="http://schemas.openxmlformats.org/drawingml/2006/main"/>
        </p:blipFill>
        <p:spPr>
          <a:xfrm xmlns:a="http://schemas.openxmlformats.org/drawingml/2006/main">
            <a:off x="1014315" y="1326414"/>
            <a:ext cx="2805877" cy="2638253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B3B2F-D047-4829-BFBB-B8E4716FC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6da3162fc4b97"/>
          <a:stretch xmlns:a="http://schemas.openxmlformats.org/drawingml/2006/main"/>
        </p:blipFill>
        <p:spPr>
          <a:xfrm xmlns:a="http://schemas.openxmlformats.org/drawingml/2006/main">
            <a:off x="4966381" y="1464886"/>
            <a:ext cx="2332157" cy="247062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9182D-68C1-4008-B00E-780F48B75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9898cefe74388"/>
          <a:stretch xmlns:a="http://schemas.openxmlformats.org/drawingml/2006/main"/>
        </p:blipFill>
        <p:spPr>
          <a:xfrm xmlns:a="http://schemas.openxmlformats.org/drawingml/2006/main">
            <a:off x="8597871" y="1377430"/>
            <a:ext cx="2864181" cy="2572661"/>
          </a:xfrm>
          <a:prstGeom xmlns:a="http://schemas.openxmlformats.org/drawingml/2006/main" prst="rect">
            <a:avLst/>
          </a:prstGeom>
        </p:spPr>
      </p:pic>
      <p:sp>
        <p:nvSpPr>
          <p:cNvPr id="4" name="rightArrow">
            <a:extLst xmlns:a="http://schemas.openxmlformats.org/drawingml/2006/main">
              <a:ext uri="{FF2B5EF4-FFF2-40B4-BE49-F238E27FC236}">
                <a16:creationId xmlns:a16="http://schemas.microsoft.com/office/drawing/2014/main" id="{53AE7245-222A-4454-AF8C-0B114E8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818" y="2616389"/>
            <a:ext cx="743770" cy="35711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5" name="rightArrow">
            <a:extLst xmlns:a="http://schemas.openxmlformats.org/drawingml/2006/main">
              <a:ext uri="{FF2B5EF4-FFF2-40B4-BE49-F238E27FC236}">
                <a16:creationId xmlns:a16="http://schemas.microsoft.com/office/drawing/2014/main" id="{58B6DAE2-EAB0-4F44-9618-6CA51F8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876" y="2616389"/>
            <a:ext cx="743770" cy="35711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5ECB4716-4BDF-4AAF-8E84-2E7D035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6" y="4081275"/>
            <a:ext cx="831273" cy="692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発信を準備">
            <a:extLst xmlns:a="http://schemas.openxmlformats.org/drawingml/2006/main">
              <a:ext uri="{FF2B5EF4-FFF2-40B4-BE49-F238E27FC236}">
                <a16:creationId xmlns:a16="http://schemas.microsoft.com/office/drawing/2014/main" id="{0D48512F-B3CC-4BA6-AE8E-FE99D2D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92" y="4227035"/>
            <a:ext cx="2690699" cy="4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発信を準備</a:t>
            </a:r>
          </a:p>
        </p:txBody>
      </p:sp>
      <p:sp>
        <p:nvSpPr>
          <p:cNvPr id="8" name="対象者リスト&#10;会話シナリオ・発信日時">
            <a:extLst xmlns:a="http://schemas.openxmlformats.org/drawingml/2006/main">
              <a:ext uri="{FF2B5EF4-FFF2-40B4-BE49-F238E27FC236}">
                <a16:creationId xmlns:a16="http://schemas.microsoft.com/office/drawing/2014/main" id="{91ABD89E-861A-48A3-8312-736EBFDD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48" y="4817362"/>
            <a:ext cx="3339675" cy="808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対象者リスト</a:t>
            </a:r>
          </a:p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会話シナリオ・発信日時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1582FB55-9AA8-48F4-91F3-F4E972E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876" y="4081275"/>
            <a:ext cx="831273" cy="692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AIが電話で確認">
            <a:extLst xmlns:a="http://schemas.openxmlformats.org/drawingml/2006/main">
              <a:ext uri="{FF2B5EF4-FFF2-40B4-BE49-F238E27FC236}">
                <a16:creationId xmlns:a16="http://schemas.microsoft.com/office/drawing/2014/main" id="{B0EF7D71-0D88-4098-AAC6-A39D60B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191" y="4227035"/>
            <a:ext cx="2690699" cy="4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AIが電話で確認</a:t>
            </a:r>
          </a:p>
        </p:txBody>
      </p:sp>
      <p:sp>
        <p:nvSpPr>
          <p:cNvPr id="11" name="案内や確認を実施&#10;相手の応答を記録">
            <a:extLst xmlns:a="http://schemas.openxmlformats.org/drawingml/2006/main">
              <a:ext uri="{FF2B5EF4-FFF2-40B4-BE49-F238E27FC236}">
                <a16:creationId xmlns:a16="http://schemas.microsoft.com/office/drawing/2014/main" id="{B3C07BBF-3448-4B88-9619-58681B44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48" y="4817362"/>
            <a:ext cx="3339675" cy="808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案内や確認を実施</a:t>
            </a:r>
          </a:p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相手の応答を記録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809A2BC9-E45D-4AED-B436-23F0D89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397" y="4081275"/>
            <a:ext cx="831273" cy="692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36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3" name="結果をもとに対応">
            <a:extLst xmlns:a="http://schemas.openxmlformats.org/drawingml/2006/main">
              <a:ext uri="{FF2B5EF4-FFF2-40B4-BE49-F238E27FC236}">
                <a16:creationId xmlns:a16="http://schemas.microsoft.com/office/drawing/2014/main" id="{91FE9992-114F-4324-953F-7731A0D7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713" y="4227035"/>
            <a:ext cx="2690699" cy="4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結果をもとに対応</a:t>
            </a:r>
          </a:p>
        </p:txBody>
      </p:sp>
      <p:sp>
        <p:nvSpPr>
          <p:cNvPr id="14" name="応答結果の回収&#10;SMS送信・職員への連携">
            <a:extLst xmlns:a="http://schemas.openxmlformats.org/drawingml/2006/main">
              <a:ext uri="{FF2B5EF4-FFF2-40B4-BE49-F238E27FC236}">
                <a16:creationId xmlns:a16="http://schemas.microsoft.com/office/drawing/2014/main" id="{9DB7E69A-61B1-4C7C-964B-FC111B8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569" y="4817362"/>
            <a:ext cx="3339675" cy="808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応答結果の回収</a:t>
            </a:r>
          </a:p>
          <a:p xmlns:a="http://schemas.openxmlformats.org/drawingml/2006/main">
            <a:pPr algn="l">
              <a:buNone/>
              <a:def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95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SMS送信・職員への連携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93A25C9D-4A4E-4939-8737-756EED0D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10" y="5655481"/>
            <a:ext cx="11491981" cy="626767"/>
          </a:xfrm>
          <a:prstGeom xmlns:a="http://schemas.openxmlformats.org/drawingml/2006/main" prst="roundRect">
            <a:avLst>
              <a:gd name="adj" fmla="val 23268"/>
            </a:avLst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E1B1FE-3768-4DAF-AC87-9D90FE298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7de9c35e64fd4"/>
          <a:stretch xmlns:a="http://schemas.openxmlformats.org/drawingml/2006/main"/>
        </p:blipFill>
        <p:spPr>
          <a:xfrm xmlns:a="http://schemas.openxmlformats.org/drawingml/2006/main">
            <a:off x="3299598" y="5786665"/>
            <a:ext cx="415578" cy="429991"/>
          </a:xfrm>
          <a:prstGeom xmlns:a="http://schemas.openxmlformats.org/drawingml/2006/main" prst="rect">
            <a:avLst/>
          </a:prstGeom>
        </p:spPr>
      </p:pic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978B8676-058E-43CA-B6B6-9C744A4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900" y="5808529"/>
            <a:ext cx="7292" cy="335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4C9"/>
          </a:solidFill>
          <a:ln xmlns:a="http://schemas.openxmlformats.org/drawingml/2006/main" w="0">
            <a:noFill/>
          </a:ln>
        </p:spPr>
      </p:sp>
      <p:sp>
        <p:nvSpPr>
          <p:cNvPr id="18" name="発信目的・時間帯・再連絡のルールを事前に確認">
            <a:extLst xmlns:a="http://schemas.openxmlformats.org/drawingml/2006/main">
              <a:ext uri="{FF2B5EF4-FFF2-40B4-BE49-F238E27FC236}">
                <a16:creationId xmlns:a16="http://schemas.microsoft.com/office/drawing/2014/main" id="{89D5B0AB-EF81-41CE-A313-545C67E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699" y="5866833"/>
            <a:ext cx="7102278" cy="37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発信目的・時間帯・再連絡のルールを事前に確認</a:t>
            </a:r>
          </a:p>
        </p:txBody>
      </p:sp>
      <p:sp>
        <p:nvSpPr>
          <p:cNvPr id="19" name="09">
            <a:extLst xmlns:a="http://schemas.openxmlformats.org/drawingml/2006/main">
              <a:ext uri="{FF2B5EF4-FFF2-40B4-BE49-F238E27FC236}">
                <a16:creationId xmlns:a16="http://schemas.microsoft.com/office/drawing/2014/main" id="{40BA8689-15E1-42B6-A840-E4D1EE1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A46E3ED2-22A6-4E82-AD04-CA83486D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21" name="SwarrowCallのAI架電">
            <a:extLst xmlns:a="http://schemas.openxmlformats.org/drawingml/2006/main">
              <a:ext uri="{FF2B5EF4-FFF2-40B4-BE49-F238E27FC236}">
                <a16:creationId xmlns:a16="http://schemas.microsoft.com/office/drawing/2014/main" id="{A72FC43E-0A83-441E-86B5-34DD9A7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SwarrowCallのAI架電</a:t>
            </a:r>
          </a:p>
        </p:txBody>
      </p:sp>
      <p:sp>
        <p:nvSpPr>
          <p:cNvPr id="22" name="件数の多い電話連絡をまとめて実行し、応答結果を後続の対応につなげます。">
            <a:extLst xmlns:a="http://schemas.openxmlformats.org/drawingml/2006/main">
              <a:ext uri="{FF2B5EF4-FFF2-40B4-BE49-F238E27FC236}">
                <a16:creationId xmlns:a16="http://schemas.microsoft.com/office/drawing/2014/main" id="{C53B8E98-A68B-4DDE-AD89-DA1610C2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件数の多い電話連絡をまとめて実行し、応答結果を後続の対応につなげます。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3BCA4176-9E9F-44EC-A9E7-AB54D7A7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24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D5980BA5-ED6F-4633-BD7C-F0FB46EE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25" name="09">
            <a:extLst xmlns:a="http://schemas.openxmlformats.org/drawingml/2006/main">
              <a:ext uri="{FF2B5EF4-FFF2-40B4-BE49-F238E27FC236}">
                <a16:creationId xmlns:a16="http://schemas.microsoft.com/office/drawing/2014/main" id="{7489F7C1-EFB4-40D5-8393-1B87E1C2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042397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00">
            <a:extLst>
              <a:ext uri="{FF2B5EF4-FFF2-40B4-BE49-F238E27FC236}">
                <ns2:creationId id="{9B93926F-F84C-4737-A670-6E976745117A}"/>
              </a:ext>
            </a:extLst>
          </p:cNvPr>
          <p:cNvSpPr>
            <a:spLocks noGrp="1"/>
          </p:cNvSpPr>
          <p:nvPr/>
        </p:nvSpPr>
        <p:spPr>
          <a:xfrm>
            <a:off x="474345" y="42291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2" name="">
            <a:extLst>
              <a:ext uri="{FF2B5EF4-FFF2-40B4-BE49-F238E27FC236}">
                <ns2:creationId id="{160EBE7F-0D52-4D90-96F1-CCE1ED987689}"/>
              </a:ext>
            </a:extLst>
          </p:cNvPr>
          <p:cNvSpPr>
            <a:spLocks noGrp="1"/>
          </p:cNvSpPr>
          <p:nvPr/>
        </p:nvSpPr>
        <p:spPr>
          <a:xfrm>
            <a:off x="919163" y="335280"/>
            <a:ext cx="9525" cy="352425"/>
          </a:xfrm>
          <a:prstGeom prst="rect">
            <a:avLst/>
          </a:prstGeom>
          <a:solidFill>
            <a:srgbClr val="8193A9"/>
          </a:solidFill>
          <a:ln w="0">
            <a:noFill/>
          </a:ln>
        </p:spPr>
      </p:sp>
      <p:sp>
        <p:nvSpPr>
          <p:cNvPr id="3" name="AI架電の自治体活用例">
            <a:extLst>
              <a:ext uri="{FF2B5EF4-FFF2-40B4-BE49-F238E27FC236}">
                <ns2:creationId id="{B77643D0-E09F-45AB-A396-60F7BCE74799}"/>
              </a:ext>
            </a:extLst>
          </p:cNvPr>
          <p:cNvSpPr>
            <a:spLocks noGrp="1"/>
          </p:cNvSpPr>
          <p:nvPr/>
        </p:nvSpPr>
        <p:spPr>
          <a:xfrm>
            <a:off x="1224915" y="29908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AI架電の自治体活用例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F593127F-C492-4235-A3DA-B51BA006087C}"/>
              </a:ext>
            </a:extLst>
          </p:cNvPr>
          <p:cNvGraphicFramePr/>
          <p:nvPr/>
        </p:nvGraphicFramePr>
        <p:xfrm>
          <a:off x="2095500" y="1295400"/>
          <a:ext cx="9620250" cy="4857750"/>
        </p:xfrm>
        <a:graphic>
          <a:graphicData uri="http://schemas.openxmlformats.org/drawingml/2006/table">
            <a:tbl>
              <a:tblPr firstRow="0" bandRow="0"/>
              <a:tblGrid>
                <a:gridCol w="1809750"/>
                <a:gridCol w="3524250"/>
                <a:gridCol w="4286250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分野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対象業務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Swarrowの対応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健康増進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健診・面談・予防接種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日程・持ち物を案内し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応答結果を記録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税務・保険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納付勧奨・納期限のお知らせ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書類提出の促進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納付・提出を案内し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確認結果を記録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介護・福祉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高齢者の安否確認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訪問前の確認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状況・予定を確認し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職員の対応へ連携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9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87B3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防災・危機管理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緊急時・訓練時の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一斉確認連絡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連絡を実施し</a:t>
                      </a:r>
                    </a:p>
                    <a:p>
                      <a:r>
                        <a:rPr sz="1650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応答結果を回収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>
              <a:ext uri="{FF2B5EF4-FFF2-40B4-BE49-F238E27FC236}">
                <ns2:creationId id="{40FFCF79-7033-47AD-B1E4-D70F3AA726E2}"/>
              </a:ext>
            </a:extLst>
          </p:cNvPr>
          <p:cNvPicPr>
            <a:picLocks noChangeAspect="1"/>
          </p:cNvPicPr>
          <p:nvPr/>
        </p:nvPicPr>
        <p:blipFill>
          <a:blip r:embed="Rffba0e93f0344407"/>
          <a:stretch/>
        </p:blipFill>
        <p:spPr>
          <a:xfrm>
            <a:off x="642972" y="1733550"/>
            <a:ext cx="1200081" cy="1004888"/>
          </a:xfrm>
          <a:prstGeom prst="rect">
            <a:avLst/>
          </a:prstGeom>
        </p:spPr>
      </p:pic>
      <p:pic>
        <p:nvPicPr>
          <p:cNvPr id="6" name="">
            <a:extLst>
              <a:ext uri="{FF2B5EF4-FFF2-40B4-BE49-F238E27FC236}">
                <ns2:creationId id="{C6FC1A9E-DE38-4E38-95B9-C472DBB720E1}"/>
              </a:ext>
            </a:extLst>
          </p:cNvPr>
          <p:cNvPicPr>
            <a:picLocks noChangeAspect="1"/>
          </p:cNvPicPr>
          <p:nvPr/>
        </p:nvPicPr>
        <p:blipFill>
          <a:blip r:embed="Rf898648c25f84ca4"/>
          <a:stretch/>
        </p:blipFill>
        <p:spPr>
          <a:xfrm>
            <a:off x="662411" y="2852738"/>
            <a:ext cx="1161203" cy="1004888"/>
          </a:xfrm>
          <a:prstGeom prst="rect">
            <a:avLst/>
          </a:prstGeom>
        </p:spPr>
      </p:pic>
      <p:pic>
        <p:nvPicPr>
          <p:cNvPr id="7" name="">
            <a:extLst>
              <a:ext uri="{FF2B5EF4-FFF2-40B4-BE49-F238E27FC236}">
                <ns2:creationId id="{FC0D6D3D-9AB8-44E4-ABF3-EED1CC8A8066}"/>
              </a:ext>
            </a:extLst>
          </p:cNvPr>
          <p:cNvPicPr>
            <a:picLocks noChangeAspect="1"/>
          </p:cNvPicPr>
          <p:nvPr/>
        </p:nvPicPr>
        <p:blipFill>
          <a:blip r:embed="R3513f0730be64389"/>
          <a:stretch/>
        </p:blipFill>
        <p:spPr>
          <a:xfrm>
            <a:off x="631647" y="3971925"/>
            <a:ext cx="1222730" cy="1004888"/>
          </a:xfrm>
          <a:prstGeom prst="rect">
            <a:avLst/>
          </a:prstGeom>
        </p:spPr>
      </p:pic>
      <p:pic>
        <p:nvPicPr>
          <p:cNvPr id="8" name="">
            <a:extLst>
              <a:ext uri="{FF2B5EF4-FFF2-40B4-BE49-F238E27FC236}">
                <ns2:creationId id="{655B9055-31E3-4E1F-8CEC-FEC9C729B1F3}"/>
              </a:ext>
            </a:extLst>
          </p:cNvPr>
          <p:cNvPicPr>
            <a:picLocks noChangeAspect="1"/>
          </p:cNvPicPr>
          <p:nvPr/>
        </p:nvPicPr>
        <p:blipFill>
          <a:blip r:embed="Rbc1fe3d2d9664dc8"/>
          <a:stretch/>
        </p:blipFill>
        <p:spPr>
          <a:xfrm>
            <a:off x="651902" y="5091113"/>
            <a:ext cx="1182221" cy="1004888"/>
          </a:xfrm>
          <a:prstGeom prst="rect">
            <a:avLst/>
          </a:prstGeom>
        </p:spPr>
      </p:pic>
      <p:sp>
        <p:nvSpPr>
          <p:cNvPr id="9" name="対象業務・発信時間・再連絡のルールは導入時に確認します">
            <a:extLst>
              <a:ext uri="{FF2B5EF4-FFF2-40B4-BE49-F238E27FC236}">
                <ns2:creationId id="{AC4B30E1-C6AE-4AED-BBAF-542E7996E308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095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対象業務・発信時間・再連絡のルールは導入時に確認します</a:t>
            </a:r>
          </a:p>
        </p:txBody>
      </p:sp>
      <p:sp>
        <p:nvSpPr>
          <p:cNvPr id="10" name="">
            <a:extLst>
              <a:ext uri="{FF2B5EF4-FFF2-40B4-BE49-F238E27FC236}">
                <ns2:creationId id="{19F0CB65-BFDC-4AE0-BDC8-731787B8AEDC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11430000" cy="9525"/>
          </a:xfrm>
          <a:prstGeom prst="rect">
            <a:avLst/>
          </a:prstGeom>
          <a:solidFill>
            <a:srgbClr val="8C9EB5"/>
          </a:solidFill>
          <a:ln w="0">
            <a:noFill/>
          </a:ln>
        </p:spPr>
      </p:sp>
      <p:sp>
        <p:nvSpPr>
          <p:cNvPr id="11" name="SwarrowChat / SwarrowCall">
            <a:extLst>
              <a:ext uri="{FF2B5EF4-FFF2-40B4-BE49-F238E27FC236}">
                <ns2:creationId id="{CB364DC2-46D9-44C5-B7FD-3ABA3B6C9F04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2" name="00">
            <a:extLst>
              <a:ext uri="{FF2B5EF4-FFF2-40B4-BE49-F238E27FC236}">
                <ns2:creationId id="{9FD5076A-689E-4663-85A5-AD637D76B0A1}"/>
              </a:ext>
            </a:extLst>
          </p:cNvPr>
          <p:cNvSpPr>
            <a:spLocks noGrp="1"/>
          </p:cNvSpPr>
          <p:nvPr/>
        </p:nvSpPr>
        <p:spPr>
          <a:xfrm>
            <a:off x="11563350" y="655320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ns4:creationId val="488895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問い合わせ対応">
            <a:extLst xmlns:a="http://schemas.openxmlformats.org/drawingml/2006/main">
              <a:ext uri="{FF2B5EF4-FFF2-40B4-BE49-F238E27FC236}">
                <a16:creationId xmlns:a16="http://schemas.microsoft.com/office/drawing/2014/main" id="{DF0E1D0E-3026-4E0A-B3E4-DEF524C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79" y="1632510"/>
            <a:ext cx="3390718" cy="4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問い合わせ対応</a:t>
            </a:r>
          </a:p>
        </p:txBody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8689772A-767D-4D27-AEC9-3219C8F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780" y="1843862"/>
            <a:ext cx="5104306" cy="14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7A5"/>
          </a:solidFill>
          <a:ln xmlns:a="http://schemas.openxmlformats.org/drawingml/2006/main" w="0">
            <a:noFill/>
          </a:ln>
        </p:spPr>
      </p:sp>
      <p:sp>
        <p:nvSpPr>
          <p:cNvPr id="3" name="対象者への連絡">
            <a:extLst xmlns:a="http://schemas.openxmlformats.org/drawingml/2006/main">
              <a:ext uri="{FF2B5EF4-FFF2-40B4-BE49-F238E27FC236}">
                <a16:creationId xmlns:a16="http://schemas.microsoft.com/office/drawing/2014/main" id="{67180F47-AF62-457C-8E0C-9A813F33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60" y="1632510"/>
            <a:ext cx="3062584" cy="40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18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対象者への連絡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764F2AF3-4733-4AAB-8DEE-740B0B0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15" y="1843862"/>
            <a:ext cx="1436498" cy="14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7A5"/>
          </a:solidFill>
          <a:ln xmlns:a="http://schemas.openxmlformats.org/drawingml/2006/main" w="0">
            <a:noFill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3C497C85-B077-4335-BCC2-ACDE71B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593" y="1603358"/>
            <a:ext cx="7292" cy="3199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0CEDF587-73B5-4222-AD8C-62190AFB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622" y="4569571"/>
            <a:ext cx="72919" cy="5465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7"/>
          </a:solidFill>
          <a:ln xmlns:a="http://schemas.openxmlformats.org/drawingml/2006/main" w="0">
            <a:noFill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EE221643-A50B-47C2-BBB2-12C8CAD8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2069790"/>
            <a:ext cx="3405301" cy="2550797"/>
          </a:xfrm>
          <a:prstGeom xmlns:a="http://schemas.openxmlformats.org/drawingml/2006/main" prst="roundRect">
            <a:avLst>
              <a:gd name="adj" fmla="val 5431"/>
            </a:avLst>
          </a:prstGeom>
          <a:solidFill xmlns:a="http://schemas.openxmlformats.org/drawingml/2006/main">
            <a:srgbClr val="E1F2EC"/>
          </a:solidFill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4B0E3C-9B88-43A1-832E-A7DF677634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21bd46e4b4f4b"/>
          <a:stretch xmlns:a="http://schemas.openxmlformats.org/drawingml/2006/main"/>
        </p:blipFill>
        <p:spPr>
          <a:xfrm xmlns:a="http://schemas.openxmlformats.org/drawingml/2006/main">
            <a:off x="1069823" y="2128094"/>
            <a:ext cx="2301101" cy="1603358"/>
          </a:xfrm>
          <a:prstGeom xmlns:a="http://schemas.openxmlformats.org/drawingml/2006/main" prst="rect">
            <a:avLst/>
          </a:prstGeom>
        </p:spPr>
      </p:pic>
      <p:sp>
        <p:nvSpPr>
          <p:cNvPr id="9" name="SwarrowChat">
            <a:extLst xmlns:a="http://schemas.openxmlformats.org/drawingml/2006/main">
              <a:ext uri="{FF2B5EF4-FFF2-40B4-BE49-F238E27FC236}">
                <a16:creationId xmlns:a16="http://schemas.microsoft.com/office/drawing/2014/main" id="{64F1D921-5507-47A5-B227-0F17DAD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57" y="3811620"/>
            <a:ext cx="3201129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26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pPr>
            <a:r>
              <a:rPr sz="2526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rPr>
              <a:t>SwarrowChat</a:t>
            </a:r>
          </a:p>
        </p:txBody>
      </p:sp>
      <p:sp>
        <p:nvSpPr>
          <p:cNvPr id="10" name="Webでの自己解決">
            <a:extLst xmlns:a="http://schemas.openxmlformats.org/drawingml/2006/main">
              <a:ext uri="{FF2B5EF4-FFF2-40B4-BE49-F238E27FC236}">
                <a16:creationId xmlns:a16="http://schemas.microsoft.com/office/drawing/2014/main" id="{5E501B58-A654-406A-8BA3-6F858437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4" y="4219747"/>
            <a:ext cx="3230297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Webでの自己解決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287050F-5790-4E9B-A3F4-7E9D010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708" y="4569571"/>
            <a:ext cx="72919" cy="5465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A8"/>
          </a:solidFill>
          <a:ln xmlns:a="http://schemas.openxmlformats.org/drawingml/2006/main" w="0">
            <a:noFill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1DF26416-31C0-4A89-995F-6FE6B1DA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622" y="2069790"/>
            <a:ext cx="3252172" cy="2550797"/>
          </a:xfrm>
          <a:prstGeom xmlns:a="http://schemas.openxmlformats.org/drawingml/2006/main" prst="roundRect">
            <a:avLst>
              <a:gd name="adj" fmla="val 5431"/>
            </a:avLst>
          </a:prstGeom>
          <a:solidFill xmlns:a="http://schemas.openxmlformats.org/drawingml/2006/main">
            <a:srgbClr val="E2F0FF"/>
          </a:solidFill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15F9A5-6EE4-44BD-A0AB-2DA69C362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f2bf0441045ac"/>
          <a:stretch xmlns:a="http://schemas.openxmlformats.org/drawingml/2006/main"/>
        </p:blipFill>
        <p:spPr>
          <a:xfrm xmlns:a="http://schemas.openxmlformats.org/drawingml/2006/main">
            <a:off x="4849091" y="2181927"/>
            <a:ext cx="2464651" cy="1473828"/>
          </a:xfrm>
          <a:prstGeom xmlns:a="http://schemas.openxmlformats.org/drawingml/2006/main" prst="rect">
            <a:avLst/>
          </a:prstGeom>
        </p:spPr>
      </p:pic>
      <p:sp>
        <p:nvSpPr>
          <p:cNvPr id="14" name="SwarrowCall AI受電">
            <a:extLst xmlns:a="http://schemas.openxmlformats.org/drawingml/2006/main">
              <a:ext uri="{FF2B5EF4-FFF2-40B4-BE49-F238E27FC236}">
                <a16:creationId xmlns:a16="http://schemas.microsoft.com/office/drawing/2014/main" id="{BE921F3E-3C24-477B-B2A5-FE6F10F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08" y="3811620"/>
            <a:ext cx="3048000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67" b="1">
                <a:solidFill>
                  <a:srgbClr val="315EA8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315EA8"/>
                </a:solidFill>
                <a:latin typeface="Hiragino Sans"/>
                <a:ea typeface="Hiragino Sans"/>
                <a:cs typeface="Hiragino Sans"/>
              </a:rPr>
              <a:t>SwarrowCall AI受電</a:t>
            </a:r>
          </a:p>
        </p:txBody>
      </p:sp>
      <p:sp>
        <p:nvSpPr>
          <p:cNvPr id="15" name="電話の案内・受付">
            <a:extLst xmlns:a="http://schemas.openxmlformats.org/drawingml/2006/main">
              <a:ext uri="{FF2B5EF4-FFF2-40B4-BE49-F238E27FC236}">
                <a16:creationId xmlns:a16="http://schemas.microsoft.com/office/drawing/2014/main" id="{DBA5D9A1-CA45-45E2-82F3-76E3924D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124" y="4219747"/>
            <a:ext cx="3077167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電話の案内・受付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4DC9AE7E-5D76-45C8-9856-7AD5F64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086" y="4569571"/>
            <a:ext cx="72919" cy="5465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115D5846-702D-4563-BB8D-8D6EDD39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560" y="2069790"/>
            <a:ext cx="3449053" cy="2550797"/>
          </a:xfrm>
          <a:prstGeom xmlns:a="http://schemas.openxmlformats.org/drawingml/2006/main" prst="roundRect">
            <a:avLst>
              <a:gd name="adj" fmla="val 5431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7F3A00-9D62-46D6-942E-138AC44FC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c5b425f0545c5"/>
          <a:stretch xmlns:a="http://schemas.openxmlformats.org/drawingml/2006/main"/>
        </p:blipFill>
        <p:spPr>
          <a:xfrm xmlns:a="http://schemas.openxmlformats.org/drawingml/2006/main">
            <a:off x="9027330" y="2173867"/>
            <a:ext cx="2034431" cy="1511811"/>
          </a:xfrm>
          <a:prstGeom xmlns:a="http://schemas.openxmlformats.org/drawingml/2006/main" prst="rect">
            <a:avLst/>
          </a:prstGeom>
        </p:spPr>
      </p:pic>
      <p:sp>
        <p:nvSpPr>
          <p:cNvPr id="19" name="SwarrowCall AI架電">
            <a:extLst xmlns:a="http://schemas.openxmlformats.org/drawingml/2006/main">
              <a:ext uri="{FF2B5EF4-FFF2-40B4-BE49-F238E27FC236}">
                <a16:creationId xmlns:a16="http://schemas.microsoft.com/office/drawing/2014/main" id="{D7FAF204-3F4F-4E39-9970-15CF26BA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46" y="3811620"/>
            <a:ext cx="3244880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67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SwarrowCall AI架電</a:t>
            </a:r>
          </a:p>
        </p:txBody>
      </p:sp>
      <p:sp>
        <p:nvSpPr>
          <p:cNvPr id="20" name="案内・確認・結果の回収">
            <a:extLst xmlns:a="http://schemas.openxmlformats.org/drawingml/2006/main">
              <a:ext uri="{FF2B5EF4-FFF2-40B4-BE49-F238E27FC236}">
                <a16:creationId xmlns:a16="http://schemas.microsoft.com/office/drawing/2014/main" id="{F275584E-8325-4F1B-8842-A92CE632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062" y="4219747"/>
            <a:ext cx="3274048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案内・確認・結果の回収</a:t>
            </a:r>
          </a:p>
        </p:txBody>
      </p:sp>
      <p:sp>
        <p:nvSpPr>
          <p:cNvPr id="21" name="+">
            <a:extLst xmlns:a="http://schemas.openxmlformats.org/drawingml/2006/main">
              <a:ext uri="{FF2B5EF4-FFF2-40B4-BE49-F238E27FC236}">
                <a16:creationId xmlns:a16="http://schemas.microsoft.com/office/drawing/2014/main" id="{073B7F39-9B96-41EE-880B-09E91C8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775" y="2995365"/>
            <a:ext cx="459388" cy="58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3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3732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6CF655B4-D9F6-479F-9EE7-9ADDD18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5072442"/>
            <a:ext cx="11251349" cy="1071335"/>
          </a:xfrm>
          <a:prstGeom xmlns:a="http://schemas.openxmlformats.org/drawingml/2006/main" prst="roundRect">
            <a:avLst>
              <a:gd name="adj" fmla="val 11571"/>
            </a:avLst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132594-4C60-4331-A4D6-2EB1082F5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da90f0d184b50"/>
          <a:stretch xmlns:a="http://schemas.openxmlformats.org/drawingml/2006/main"/>
        </p:blipFill>
        <p:spPr>
          <a:xfrm xmlns:a="http://schemas.openxmlformats.org/drawingml/2006/main">
            <a:off x="1623587" y="5174474"/>
            <a:ext cx="960233" cy="881847"/>
          </a:xfrm>
          <a:prstGeom xmlns:a="http://schemas.openxmlformats.org/drawingml/2006/main" prst="rect">
            <a:avLst/>
          </a:prstGeom>
        </p:spPr>
      </p:pic>
      <p:sp>
        <p:nvSpPr>
          <p:cNvPr id="24" name="共通の運用基盤">
            <a:extLst xmlns:a="http://schemas.openxmlformats.org/drawingml/2006/main">
              <a:ext uri="{FF2B5EF4-FFF2-40B4-BE49-F238E27FC236}">
                <a16:creationId xmlns:a16="http://schemas.microsoft.com/office/drawing/2014/main" id="{04760C84-C544-48D9-AA99-2829DD77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541" y="5458706"/>
            <a:ext cx="2843828" cy="51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69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69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共通の運用基盤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BE111E02-C8EB-456D-932D-FC74A7F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411" y="5393114"/>
            <a:ext cx="7292" cy="481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EA7"/>
          </a:solidFill>
          <a:ln xmlns:a="http://schemas.openxmlformats.org/drawingml/2006/main" w="0">
            <a:noFill/>
          </a:ln>
        </p:spPr>
      </p:sp>
      <p:sp>
        <p:nvSpPr>
          <p:cNvPr id="26" name="公式情報・回答方針・担当窓口・受付ルール">
            <a:extLst xmlns:a="http://schemas.openxmlformats.org/drawingml/2006/main">
              <a:ext uri="{FF2B5EF4-FFF2-40B4-BE49-F238E27FC236}">
                <a16:creationId xmlns:a16="http://schemas.microsoft.com/office/drawing/2014/main" id="{AAEFD402-C2C4-4531-9CD0-F1B0D58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45" y="5538874"/>
            <a:ext cx="5250144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公式情報・回答方針・担当窓口・受付ルール</a:t>
            </a:r>
          </a:p>
        </p:txBody>
      </p:sp>
      <p:sp>
        <p:nvSpPr>
          <p:cNvPr id="27" name="11">
            <a:extLst xmlns:a="http://schemas.openxmlformats.org/drawingml/2006/main">
              <a:ext uri="{FF2B5EF4-FFF2-40B4-BE49-F238E27FC236}">
                <a16:creationId xmlns:a16="http://schemas.microsoft.com/office/drawing/2014/main" id="{9370A0E4-2862-4EF2-A095-C54F713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933AD15E-D373-48FC-8A7B-020CA17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29" name="業務に合わせた導入の組み合わせ">
            <a:extLst xmlns:a="http://schemas.openxmlformats.org/drawingml/2006/main">
              <a:ext uri="{FF2B5EF4-FFF2-40B4-BE49-F238E27FC236}">
                <a16:creationId xmlns:a16="http://schemas.microsoft.com/office/drawing/2014/main" id="{10115C2A-9463-4A45-80D1-3A17A47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業務に合わせた導入の組み合わせ</a:t>
            </a:r>
          </a:p>
        </p:txBody>
      </p:sp>
      <p:sp>
        <p:nvSpPr>
          <p:cNvPr id="30" name="一つの製品から始め、共通の情報と運用ルールを使って範囲を広げられます。">
            <a:extLst xmlns:a="http://schemas.openxmlformats.org/drawingml/2006/main">
              <a:ext uri="{FF2B5EF4-FFF2-40B4-BE49-F238E27FC236}">
                <a16:creationId xmlns:a16="http://schemas.microsoft.com/office/drawing/2014/main" id="{D044472F-E0AF-45C1-836B-66CAD9CC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一つの製品から始め、共通の情報と運用ルールを使って範囲を広げられます。</a:t>
            </a:r>
          </a:p>
        </p:txBody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6EA56904-C5D6-48DD-8E45-37DBBC61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32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50FB5D34-6500-466A-BC7D-F54ADE4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33" name="11">
            <a:extLst xmlns:a="http://schemas.openxmlformats.org/drawingml/2006/main">
              <a:ext uri="{FF2B5EF4-FFF2-40B4-BE49-F238E27FC236}">
                <a16:creationId xmlns:a16="http://schemas.microsoft.com/office/drawing/2014/main" id="{5A8CEFC8-64E5-42AC-AAE8-5E2AB5C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4573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B87CAB-3666-4EED-9EC3-F8CA38CA2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60a173aa246d4"/>
          <a:stretch xmlns:a="http://schemas.openxmlformats.org/drawingml/2006/main"/>
        </p:blipFill>
        <p:spPr>
          <a:xfrm xmlns:a="http://schemas.openxmlformats.org/drawingml/2006/main">
            <a:off x="802712" y="1508614"/>
            <a:ext cx="2281141" cy="177827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53ED5B-AA5F-44C0-BE42-E9DA483F0A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5e1830d6423b"/>
          <a:stretch xmlns:a="http://schemas.openxmlformats.org/drawingml/2006/main"/>
        </p:blipFill>
        <p:spPr>
          <a:xfrm xmlns:a="http://schemas.openxmlformats.org/drawingml/2006/main">
            <a:off x="3945349" y="1566918"/>
            <a:ext cx="1690814" cy="1763694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94A14-798F-47C0-A6A4-7D738FBD0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23ad58a134016"/>
          <a:stretch xmlns:a="http://schemas.openxmlformats.org/drawingml/2006/main"/>
        </p:blipFill>
        <p:spPr>
          <a:xfrm xmlns:a="http://schemas.openxmlformats.org/drawingml/2006/main">
            <a:off x="6388260" y="1486750"/>
            <a:ext cx="2200973" cy="1829286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C0350C-CB47-434C-B064-79D10657AA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2fe7b3e774ad7"/>
          <a:stretch xmlns:a="http://schemas.openxmlformats.org/drawingml/2006/main"/>
        </p:blipFill>
        <p:spPr>
          <a:xfrm xmlns:a="http://schemas.openxmlformats.org/drawingml/2006/main">
            <a:off x="9633076" y="1523190"/>
            <a:ext cx="1960470" cy="1865726"/>
          </a:xfrm>
          <a:prstGeom xmlns:a="http://schemas.openxmlformats.org/drawingml/2006/main" prst="rect">
            <a:avLst/>
          </a:prstGeom>
        </p:spPr>
      </p:pic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440FD351-8739-4235-9002-A522E2B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632" y="3651284"/>
            <a:ext cx="5760574" cy="36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55423BDD-3EA2-44A1-B2D2-ABDD8F81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206" y="3651284"/>
            <a:ext cx="2916746" cy="36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7" name="ellipse">
            <a:extLst xmlns:a="http://schemas.openxmlformats.org/drawingml/2006/main">
              <a:ext uri="{FF2B5EF4-FFF2-40B4-BE49-F238E27FC236}">
                <a16:creationId xmlns:a16="http://schemas.microsoft.com/office/drawing/2014/main" id="{227D2983-F699-45B2-B54C-464DBD6E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98" y="3330612"/>
            <a:ext cx="648976" cy="64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43">
            <a:solidFill>
              <a:srgbClr val="092045"/>
            </a:solidFill>
          </a:ln>
        </p:spPr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A85C1B4F-A24D-414A-AFF2-2575B2D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98" y="3512812"/>
            <a:ext cx="648976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対象業務を選ぶ">
            <a:extLst xmlns:a="http://schemas.openxmlformats.org/drawingml/2006/main">
              <a:ext uri="{FF2B5EF4-FFF2-40B4-BE49-F238E27FC236}">
                <a16:creationId xmlns:a16="http://schemas.microsoft.com/office/drawing/2014/main" id="{12652190-8FBA-4653-A1C4-00CDD93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69" y="4146867"/>
            <a:ext cx="2741742" cy="4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対象業務を選ぶ</a:t>
            </a:r>
          </a:p>
        </p:txBody>
      </p:sp>
      <p:sp>
        <p:nvSpPr>
          <p:cNvPr id="10" name="部署・業務・住民接点を決定">
            <a:extLst xmlns:a="http://schemas.openxmlformats.org/drawingml/2006/main">
              <a:ext uri="{FF2B5EF4-FFF2-40B4-BE49-F238E27FC236}">
                <a16:creationId xmlns:a16="http://schemas.microsoft.com/office/drawing/2014/main" id="{8819E67A-5172-4A92-A7B5-B89B9F31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4562283"/>
            <a:ext cx="2756325" cy="386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部署・業務・住民接点を決定</a:t>
            </a:r>
          </a:p>
        </p:txBody>
      </p:sp>
      <p:sp>
        <p:nvSpPr>
          <p:cNvPr id="11" name="ellipse">
            <a:extLst xmlns:a="http://schemas.openxmlformats.org/drawingml/2006/main">
              <a:ext uri="{FF2B5EF4-FFF2-40B4-BE49-F238E27FC236}">
                <a16:creationId xmlns:a16="http://schemas.microsoft.com/office/drawing/2014/main" id="{8CD4BFC9-0E3D-48EC-9F0A-78921DB0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952" y="3330612"/>
            <a:ext cx="648976" cy="64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43">
            <a:solidFill>
              <a:srgbClr val="092045"/>
            </a:solidFill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B92BEF2E-204F-4AEB-A78E-C70ABA01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952" y="3512812"/>
            <a:ext cx="648976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3" name="情報とルールを整える">
            <a:extLst xmlns:a="http://schemas.openxmlformats.org/drawingml/2006/main">
              <a:ext uri="{FF2B5EF4-FFF2-40B4-BE49-F238E27FC236}">
                <a16:creationId xmlns:a16="http://schemas.microsoft.com/office/drawing/2014/main" id="{95E03E23-9AE6-4E6D-BC41-E60A9CAC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923" y="4146867"/>
            <a:ext cx="2741742" cy="4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情報とルールを整える</a:t>
            </a:r>
          </a:p>
        </p:txBody>
      </p:sp>
      <p:sp>
        <p:nvSpPr>
          <p:cNvPr id="14" name="公式情報・電話フローを設定">
            <a:extLst xmlns:a="http://schemas.openxmlformats.org/drawingml/2006/main">
              <a:ext uri="{FF2B5EF4-FFF2-40B4-BE49-F238E27FC236}">
                <a16:creationId xmlns:a16="http://schemas.microsoft.com/office/drawing/2014/main" id="{CDF71018-3610-4414-9648-4D4A377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632" y="4562283"/>
            <a:ext cx="2756325" cy="386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公式情報・電話フローを設定</a:t>
            </a:r>
          </a:p>
        </p:txBody>
      </p:sp>
      <p:sp>
        <p:nvSpPr>
          <p:cNvPr id="15" name="ellipse">
            <a:extLst xmlns:a="http://schemas.openxmlformats.org/drawingml/2006/main">
              <a:ext uri="{FF2B5EF4-FFF2-40B4-BE49-F238E27FC236}">
                <a16:creationId xmlns:a16="http://schemas.microsoft.com/office/drawing/2014/main" id="{F89F72BA-0FA2-42AE-93A9-05AFAAF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656" y="3330612"/>
            <a:ext cx="648976" cy="64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43">
            <a:solidFill>
              <a:srgbClr val="092045"/>
            </a:solidFill>
          </a:ln>
        </p:spPr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A505CB66-EF6E-4C81-95C0-BBB309D3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656" y="3512812"/>
            <a:ext cx="648976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354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試行して確認する">
            <a:extLst xmlns:a="http://schemas.openxmlformats.org/drawingml/2006/main">
              <a:ext uri="{FF2B5EF4-FFF2-40B4-BE49-F238E27FC236}">
                <a16:creationId xmlns:a16="http://schemas.microsoft.com/office/drawing/2014/main" id="{B735E351-DFFF-4170-A7A8-11C3B34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7" y="4146867"/>
            <a:ext cx="2741742" cy="4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試行して確認する</a:t>
            </a:r>
          </a:p>
        </p:txBody>
      </p:sp>
      <p:sp>
        <p:nvSpPr>
          <p:cNvPr id="18" name="代表質問やテスト通話で確認">
            <a:extLst xmlns:a="http://schemas.openxmlformats.org/drawingml/2006/main">
              <a:ext uri="{FF2B5EF4-FFF2-40B4-BE49-F238E27FC236}">
                <a16:creationId xmlns:a16="http://schemas.microsoft.com/office/drawing/2014/main" id="{5EC36EFD-EC23-4869-9F48-DF539D6F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335" y="4562283"/>
            <a:ext cx="2756325" cy="386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代表質問やテスト通話で確認</a:t>
            </a:r>
          </a:p>
        </p:txBody>
      </p:sp>
      <p:sp>
        <p:nvSpPr>
          <p:cNvPr id="19" name="ellipse">
            <a:extLst xmlns:a="http://schemas.openxmlformats.org/drawingml/2006/main">
              <a:ext uri="{FF2B5EF4-FFF2-40B4-BE49-F238E27FC236}">
                <a16:creationId xmlns:a16="http://schemas.microsoft.com/office/drawing/2014/main" id="{16A1E617-6EA9-47B7-BD42-4F77074D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402" y="3330612"/>
            <a:ext cx="648976" cy="64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43">
            <a:solidFill>
              <a:srgbClr val="E87B35"/>
            </a:solidFill>
          </a:ln>
        </p:spPr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53A1E798-5C6E-4E14-BE51-17E641F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402" y="3512812"/>
            <a:ext cx="648976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5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2354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1" name="運用を見直す">
            <a:extLst xmlns:a="http://schemas.openxmlformats.org/drawingml/2006/main">
              <a:ext uri="{FF2B5EF4-FFF2-40B4-BE49-F238E27FC236}">
                <a16:creationId xmlns:a16="http://schemas.microsoft.com/office/drawing/2014/main" id="{426AA27A-5BA4-4254-8F4C-CCE001D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373" y="4146867"/>
            <a:ext cx="2741742" cy="4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運用を見直す</a:t>
            </a:r>
          </a:p>
        </p:txBody>
      </p:sp>
      <p:sp>
        <p:nvSpPr>
          <p:cNvPr id="22" name="質問ログや応答結果を確認">
            <a:extLst xmlns:a="http://schemas.openxmlformats.org/drawingml/2006/main">
              <a:ext uri="{FF2B5EF4-FFF2-40B4-BE49-F238E27FC236}">
                <a16:creationId xmlns:a16="http://schemas.microsoft.com/office/drawing/2014/main" id="{55B0FE7B-9473-400A-9911-8E5EBF87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081" y="4562283"/>
            <a:ext cx="2756325" cy="386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49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質問ログや応答結果を確認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E68B4F32-66C5-40F4-BAE5-880852A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5028714"/>
            <a:ext cx="11433646" cy="1195231"/>
          </a:xfrm>
          <a:prstGeom xmlns:a="http://schemas.openxmlformats.org/drawingml/2006/main" prst="roundRect">
            <a:avLst>
              <a:gd name="adj" fmla="val 13422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noFill/>
          </a:ln>
        </p:spPr>
      </p:sp>
      <p:sp>
        <p:nvSpPr>
          <p:cNvPr id="24" name="効果を確認する指標">
            <a:extLst xmlns:a="http://schemas.openxmlformats.org/drawingml/2006/main">
              <a:ext uri="{FF2B5EF4-FFF2-40B4-BE49-F238E27FC236}">
                <a16:creationId xmlns:a16="http://schemas.microsoft.com/office/drawing/2014/main" id="{0E049639-4F4B-4BCA-9BC2-0677B2CC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22" y="5480570"/>
            <a:ext cx="3828230" cy="48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06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効果を確認する指標</a:t>
            </a:r>
          </a:p>
        </p:txBody>
      </p:sp>
      <p:sp>
        <p:nvSpPr>
          <p:cNvPr id="25" name="Chat">
            <a:extLst xmlns:a="http://schemas.openxmlformats.org/drawingml/2006/main">
              <a:ext uri="{FF2B5EF4-FFF2-40B4-BE49-F238E27FC236}">
                <a16:creationId xmlns:a16="http://schemas.microsoft.com/office/drawing/2014/main" id="{9D738A38-8B99-462E-AADD-74E325A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593" y="5305658"/>
            <a:ext cx="875024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2F7D67"/>
                </a:solidFill>
                <a:latin typeface="Hiragino Sans"/>
                <a:ea typeface="Hiragino Sans"/>
                <a:cs typeface="Hiragino Sans"/>
              </a:rPr>
              <a:t>Chat</a:t>
            </a:r>
          </a:p>
        </p:txBody>
      </p:sp>
      <p:sp>
        <p:nvSpPr>
          <p:cNvPr id="26" name="自己解決率・未解決の質問">
            <a:extLst xmlns:a="http://schemas.openxmlformats.org/drawingml/2006/main">
              <a:ext uri="{FF2B5EF4-FFF2-40B4-BE49-F238E27FC236}">
                <a16:creationId xmlns:a16="http://schemas.microsoft.com/office/drawing/2014/main" id="{3E5913BD-0BDF-4DCE-AFB4-DD3EFFB9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746" y="5305658"/>
            <a:ext cx="4739713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自己解決率・未解決の質問</a:t>
            </a:r>
          </a:p>
        </p:txBody>
      </p:sp>
      <p:sp>
        <p:nvSpPr>
          <p:cNvPr id="27" name="Call">
            <a:extLst xmlns:a="http://schemas.openxmlformats.org/drawingml/2006/main">
              <a:ext uri="{FF2B5EF4-FFF2-40B4-BE49-F238E27FC236}">
                <a16:creationId xmlns:a16="http://schemas.microsoft.com/office/drawing/2014/main" id="{038D722F-1051-41F3-BA0C-0AC80F9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593" y="5728361"/>
            <a:ext cx="875024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80" b="1">
                <a:solidFill>
                  <a:srgbClr val="315EA8"/>
                </a:solidFill>
                <a:latin typeface="Hiragino Sans"/>
                <a:ea typeface="Hiragino Sans"/>
                <a:cs typeface="Hiragino Sans"/>
              </a:defRPr>
            </a:pPr>
            <a:r>
              <a:rPr sz="1780" b="1">
                <a:solidFill>
                  <a:srgbClr val="315EA8"/>
                </a:solidFill>
                <a:latin typeface="Hiragino Sans"/>
                <a:ea typeface="Hiragino Sans"/>
                <a:cs typeface="Hiragino Sans"/>
              </a:rPr>
              <a:t>Call</a:t>
            </a:r>
          </a:p>
        </p:txBody>
      </p:sp>
      <p:sp>
        <p:nvSpPr>
          <p:cNvPr id="28" name="応答率・確認完了率・対応時間">
            <a:extLst xmlns:a="http://schemas.openxmlformats.org/drawingml/2006/main">
              <a:ext uri="{FF2B5EF4-FFF2-40B4-BE49-F238E27FC236}">
                <a16:creationId xmlns:a16="http://schemas.microsoft.com/office/drawing/2014/main" id="{BB6F6AB8-C3CB-4A75-8BE9-55BFE8E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746" y="5728361"/>
            <a:ext cx="5395981" cy="34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1722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応答率・確認完了率・対応時間</a:t>
            </a:r>
          </a:p>
        </p:txBody>
      </p:sp>
      <p:sp>
        <p:nvSpPr>
          <p:cNvPr id="29" name="12">
            <a:extLst xmlns:a="http://schemas.openxmlformats.org/drawingml/2006/main">
              <a:ext uri="{FF2B5EF4-FFF2-40B4-BE49-F238E27FC236}">
                <a16:creationId xmlns:a16="http://schemas.microsoft.com/office/drawing/2014/main" id="{0A4BC24F-089F-4D2B-A733-03A453A7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71" y="422704"/>
            <a:ext cx="379177" cy="30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A2588DBA-E245-4AD9-B2A4-369953C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75" y="335248"/>
            <a:ext cx="7292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3A9"/>
          </a:solidFill>
          <a:ln xmlns:a="http://schemas.openxmlformats.org/drawingml/2006/main" w="0">
            <a:noFill/>
          </a:ln>
        </p:spPr>
      </p:sp>
      <p:sp>
        <p:nvSpPr>
          <p:cNvPr id="31" name="導入と運用の進め方">
            <a:extLst xmlns:a="http://schemas.openxmlformats.org/drawingml/2006/main">
              <a:ext uri="{FF2B5EF4-FFF2-40B4-BE49-F238E27FC236}">
                <a16:creationId xmlns:a16="http://schemas.microsoft.com/office/drawing/2014/main" id="{22F595D2-8D01-490E-A6BB-046DC0D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33" y="298808"/>
            <a:ext cx="10500287" cy="54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8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導入と運用の進め方</a:t>
            </a:r>
          </a:p>
        </p:txBody>
      </p:sp>
      <p:sp>
        <p:nvSpPr>
          <p:cNvPr id="32" name="対象業務を一つ決め、品質と運用結果を確認してから適用範囲を広げます。">
            <a:extLst xmlns:a="http://schemas.openxmlformats.org/drawingml/2006/main">
              <a:ext uri="{FF2B5EF4-FFF2-40B4-BE49-F238E27FC236}">
                <a16:creationId xmlns:a16="http://schemas.microsoft.com/office/drawing/2014/main" id="{D54D7F65-25C4-48E1-8A1D-16ABAF9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5" y="918287"/>
            <a:ext cx="10937799" cy="459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対象業務を一つ決め、品質と運用結果を確認してから適用範囲を広げます。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2FCFB3C7-5B7C-45A7-89D5-BB9F38C7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34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3935C4F2-0A53-4183-9B54-D6F47B82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35" name="12">
            <a:extLst xmlns:a="http://schemas.openxmlformats.org/drawingml/2006/main">
              <a:ext uri="{FF2B5EF4-FFF2-40B4-BE49-F238E27FC236}">
                <a16:creationId xmlns:a16="http://schemas.microsoft.com/office/drawing/2014/main" id="{3375CA9A-B14C-4D79-BF5C-B52710A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0983682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00">
            <a:extLst>
              <a:ext uri="{FF2B5EF4-FFF2-40B4-BE49-F238E27FC236}">
                <ns2:creationId id="{5C65C87E-3691-4136-B15E-F3E4A49352D1}"/>
              </a:ext>
            </a:extLst>
          </p:cNvPr>
          <p:cNvSpPr>
            <a:spLocks noGrp="1"/>
          </p:cNvSpPr>
          <p:nvPr/>
        </p:nvSpPr>
        <p:spPr>
          <a:xfrm>
            <a:off x="474345" y="42291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2" name="">
            <a:extLst>
              <a:ext uri="{FF2B5EF4-FFF2-40B4-BE49-F238E27FC236}">
                <ns2:creationId id="{27E8E7E2-2C0F-4DD7-A12B-46FBE2B67311}"/>
              </a:ext>
            </a:extLst>
          </p:cNvPr>
          <p:cNvSpPr>
            <a:spLocks noGrp="1"/>
          </p:cNvSpPr>
          <p:nvPr/>
        </p:nvSpPr>
        <p:spPr>
          <a:xfrm>
            <a:off x="919163" y="335280"/>
            <a:ext cx="9525" cy="352425"/>
          </a:xfrm>
          <a:prstGeom prst="rect">
            <a:avLst/>
          </a:prstGeom>
          <a:solidFill>
            <a:srgbClr val="8193A9"/>
          </a:solidFill>
          <a:ln w="0">
            <a:noFill/>
          </a:ln>
        </p:spPr>
      </p:sp>
      <p:sp>
        <p:nvSpPr>
          <p:cNvPr id="3" name="SwarrowChatの料金">
            <a:extLst>
              <a:ext uri="{FF2B5EF4-FFF2-40B4-BE49-F238E27FC236}">
                <ns2:creationId id="{046504F9-935D-499D-8DFB-2E57B87BCE2F}"/>
              </a:ext>
            </a:extLst>
          </p:cNvPr>
          <p:cNvSpPr>
            <a:spLocks noGrp="1"/>
          </p:cNvSpPr>
          <p:nvPr/>
        </p:nvSpPr>
        <p:spPr>
          <a:xfrm>
            <a:off x="1224915" y="299085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SwarrowChatの料金</a:t>
            </a:r>
          </a:p>
        </p:txBody>
      </p:sp>
      <p:sp>
        <p:nvSpPr>
          <p:cNvPr id="4" name="人口10万人以下の自治体向け・金額はすべて税別">
            <a:extLst>
              <a:ext uri="{FF2B5EF4-FFF2-40B4-BE49-F238E27FC236}">
                <ns2:creationId id="{C694FB7B-BB0C-460A-8AFE-F280CFAA14C9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人口10万人以下の自治体向け・金額はすべて税別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1A4D0D68-8165-4969-8CFE-7F8B810BA8EA}"/>
              </a:ext>
            </a:extLst>
          </p:cNvPr>
          <p:cNvGraphicFramePr/>
          <p:nvPr/>
        </p:nvGraphicFramePr>
        <p:xfrm>
          <a:off x="571500" y="1619250"/>
          <a:ext cx="11049000" cy="2057400"/>
        </p:xfrm>
        <a:graphic>
          <a:graphicData uri="http://schemas.openxmlformats.org/drawingml/2006/table">
            <a:tbl>
              <a:tblPr firstRow="0" bandRow="0"/>
              <a:tblGrid>
                <a:gridCol w="2667000"/>
                <a:gridCol w="2286000"/>
                <a:gridCol w="1714500"/>
                <a:gridCol w="4381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メニュー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初期費用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月額料金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内容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SwarrowChat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5万円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情報取得・回答設定・チャット提供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音声会話オプション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基本初期費用と共通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2.5万円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Chat基本月額の50％を追加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追加構築・個別連携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個別見積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個別見積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複数部署・用途別AI・独自連携など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初年度と次年度の費用">
            <a:extLst>
              <a:ext uri="{FF2B5EF4-FFF2-40B4-BE49-F238E27FC236}">
                <ns2:creationId id="{BE82E963-16B7-4118-9CF5-55FA104E7551}"/>
              </a:ext>
            </a:extLst>
          </p:cNvPr>
          <p:cNvSpPr>
            <a:spLocks noGrp="1"/>
          </p:cNvSpPr>
          <p:nvPr/>
        </p:nvSpPr>
        <p:spPr>
          <a:xfrm>
            <a:off x="571500" y="39814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初年度と次年度の費用</a:t>
            </a:r>
          </a:p>
        </p:txBody>
      </p:sp>
      <p:graphicFrame>
        <p:nvGraphicFramePr>
          <p:cNvPr id="7" name="">
            <a:extLst>
              <a:ext uri="{FF2B5EF4-FFF2-40B4-BE49-F238E27FC236}">
                <ns2:creationId id="{A4981EBE-B04A-4AAC-A2FF-5F2A756174A7}"/>
              </a:ext>
            </a:extLst>
          </p:cNvPr>
          <p:cNvGraphicFramePr/>
          <p:nvPr/>
        </p:nvGraphicFramePr>
        <p:xfrm>
          <a:off x="571500" y="4467225"/>
          <a:ext cx="11049000" cy="1352550"/>
        </p:xfrm>
        <a:graphic>
          <a:graphicData uri="http://schemas.openxmlformats.org/drawingml/2006/table">
            <a:tbl>
              <a:tblPr firstRow="0" bandRow="0"/>
              <a:tblGrid>
                <a:gridCol w="2667000"/>
                <a:gridCol w="3619500"/>
                <a:gridCol w="2857500"/>
                <a:gridCol w="19050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利用内容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初年度（初期費用＋12か月）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次年度（12か月）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差額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Chatのみ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70万円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60万円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音声会話付き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90万円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92045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10万円</a:t>
                      </a:r>
                    </a:p>
                  </a:txBody>
                  <a:tcPr marL="114300" marR="114300" marT="95250" marB="85725">
                    <a:lnL w="5715">
                      <a:solidFill>
                        <a:srgbClr val="CCD8E5"/>
                      </a:solidFill>
                      <a:prstDash val="solid"/>
                    </a:lnL>
                    <a:lnR w="5715">
                      <a:solidFill>
                        <a:srgbClr val="CCD8E5"/>
                      </a:solidFill>
                      <a:prstDash val="solid"/>
                    </a:lnR>
                    <a:lnT w="5715">
                      <a:solidFill>
                        <a:srgbClr val="CCD8E5"/>
                      </a:solidFill>
                      <a:prstDash val="solid"/>
                    </a:lnT>
                    <a:lnB w="5715">
                      <a:solidFill>
                        <a:srgbClr val="CC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人口10万人超は個別見積。年度途中の開始は利用月数により金額が変わります。">
            <a:extLst>
              <a:ext uri="{FF2B5EF4-FFF2-40B4-BE49-F238E27FC236}">
                <ns2:creationId id="{C246684B-2C0E-4346-871C-CF4234182B9D}"/>
              </a:ext>
            </a:extLst>
          </p:cNvPr>
          <p:cNvSpPr>
            <a:spLocks noGrp="1"/>
          </p:cNvSpPr>
          <p:nvPr/>
        </p:nvSpPr>
        <p:spPr>
          <a:xfrm>
            <a:off x="571500" y="59817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人口10万人超は個別見積。年度途中の開始は利用月数により金額が変わります。</a:t>
            </a:r>
          </a:p>
        </p:txBody>
      </p:sp>
      <p:sp>
        <p:nvSpPr>
          <p:cNvPr id="9" name="追加構築・個別連携は上記の年間費用に含みません。SwarrowCallは別途見積です。">
            <a:extLst>
              <a:ext uri="{FF2B5EF4-FFF2-40B4-BE49-F238E27FC236}">
                <ns2:creationId id="{7CBC6EFC-0B3D-46DF-96F9-EAD7D12C3C9B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追加構築・個別連携は上記の年間費用に含みません。SwarrowCallは別途見積です。</a:t>
            </a:r>
          </a:p>
        </p:txBody>
      </p:sp>
      <p:sp>
        <p:nvSpPr>
          <p:cNvPr id="10" name="">
            <a:extLst>
              <a:ext uri="{FF2B5EF4-FFF2-40B4-BE49-F238E27FC236}">
                <ns2:creationId id="{1BA32E93-3F7C-4E69-BC97-CD8532A35689}"/>
              </a:ext>
            </a:extLst>
          </p:cNvPr>
          <p:cNvSpPr>
            <a:spLocks noGrp="1"/>
          </p:cNvSpPr>
          <p:nvPr/>
        </p:nvSpPr>
        <p:spPr>
          <a:xfrm>
            <a:off x="381000" y="6457950"/>
            <a:ext cx="11430000" cy="9525"/>
          </a:xfrm>
          <a:prstGeom prst="rect">
            <a:avLst/>
          </a:prstGeom>
          <a:solidFill>
            <a:srgbClr val="8C9EB5"/>
          </a:solidFill>
          <a:ln w="0">
            <a:noFill/>
          </a:ln>
        </p:spPr>
      </p:sp>
      <p:sp>
        <p:nvSpPr>
          <p:cNvPr id="11" name="SwarrowChat / SwarrowCall">
            <a:extLst>
              <a:ext uri="{FF2B5EF4-FFF2-40B4-BE49-F238E27FC236}">
                <ns2:creationId id="{A77830AC-F099-4241-8105-80C8FA7D2B0D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2" name="00">
            <a:extLst>
              <a:ext uri="{FF2B5EF4-FFF2-40B4-BE49-F238E27FC236}">
                <ns2:creationId id="{DAF62EE2-2532-4D80-886F-0BB0DCF5474B}"/>
              </a:ext>
            </a:extLst>
          </p:cNvPr>
          <p:cNvSpPr>
            <a:spLocks noGrp="1"/>
          </p:cNvSpPr>
          <p:nvPr/>
        </p:nvSpPr>
        <p:spPr>
          <a:xfrm>
            <a:off x="11563350" y="6553200"/>
            <a:ext cx="2952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lvl9pPr>
          </a:lstStyle>
          <a:p>
            <a:pPr algn="l">
              <a:buNone/>
              <a:def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ns3:creationId val="16360191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277BB3A3-EEC8-40F6-8935-7268758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632" y="0"/>
            <a:ext cx="43313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045"/>
          </a:solidFill>
          <a:ln xmlns:a="http://schemas.openxmlformats.org/drawingml/2006/main" w="0">
            <a:noFill/>
          </a:ln>
        </p:spPr>
      </p:sp>
      <p:sp>
        <p:nvSpPr>
          <p:cNvPr id="2" name="ご相談から実証まで">
            <a:extLst xmlns:a="http://schemas.openxmlformats.org/drawingml/2006/main">
              <a:ext uri="{FF2B5EF4-FFF2-40B4-BE49-F238E27FC236}">
                <a16:creationId xmlns:a16="http://schemas.microsoft.com/office/drawing/2014/main" id="{A8821BCD-3812-4B2E-8C3F-34EDFD94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52" y="765239"/>
            <a:ext cx="6971024" cy="663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3675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ご相談から実証まで</a:t>
            </a:r>
          </a:p>
        </p:txBody>
      </p:sp>
      <p:sp>
        <p:nvSpPr>
          <p:cNvPr id="3" name="現状の業務を確認し、導入範囲と進め方をご提案します。">
            <a:extLst xmlns:a="http://schemas.openxmlformats.org/drawingml/2006/main">
              <a:ext uri="{FF2B5EF4-FFF2-40B4-BE49-F238E27FC236}">
                <a16:creationId xmlns:a16="http://schemas.microsoft.com/office/drawing/2014/main" id="{A9270CA3-7A0F-41E6-83DA-0AF3C89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52" y="1530478"/>
            <a:ext cx="6890813" cy="641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7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837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現状の業務を確認し、導入範囲と進め方をご提案します。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7F6DB3B-2FAF-45B8-B071-8E0064F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68" y="2470629"/>
            <a:ext cx="926067" cy="728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5" name="よくある質問と参照元ページ">
            <a:extLst xmlns:a="http://schemas.openxmlformats.org/drawingml/2006/main">
              <a:ext uri="{FF2B5EF4-FFF2-40B4-BE49-F238E27FC236}">
                <a16:creationId xmlns:a16="http://schemas.microsoft.com/office/drawing/2014/main" id="{1731208F-3259-46DB-BA5C-0E83B4C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1" y="2660117"/>
            <a:ext cx="6023081" cy="524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よくある質問と参照元ページ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DB01C1F9-CD81-470C-8EE1-E5E7501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68" y="3418068"/>
            <a:ext cx="926067" cy="728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現在の電話受付・連絡手順">
            <a:extLst xmlns:a="http://schemas.openxmlformats.org/drawingml/2006/main">
              <a:ext uri="{FF2B5EF4-FFF2-40B4-BE49-F238E27FC236}">
                <a16:creationId xmlns:a16="http://schemas.microsoft.com/office/drawing/2014/main" id="{53432C10-CA02-4C60-8D87-6A1A5AA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1" y="3607556"/>
            <a:ext cx="6023081" cy="524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現在の電話受付・連絡手順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E40D6FE9-11A2-477E-A06B-272D654C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68" y="4365507"/>
            <a:ext cx="926067" cy="728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defRPr>
            </a:pPr>
            <a:r>
              <a:rPr sz="4249" b="1">
                <a:solidFill>
                  <a:srgbClr val="E87B3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9" name="負担の大きい業務と期待する効果">
            <a:extLst xmlns:a="http://schemas.openxmlformats.org/drawingml/2006/main">
              <a:ext uri="{FF2B5EF4-FFF2-40B4-BE49-F238E27FC236}">
                <a16:creationId xmlns:a16="http://schemas.microsoft.com/office/drawing/2014/main" id="{3EC0D76B-E122-4719-812D-DBAB922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751" y="4554995"/>
            <a:ext cx="6023081" cy="524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2297" b="1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負担の大きい業務と期待する効果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CBF783CE-181A-481C-9110-283C246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44" y="5560738"/>
            <a:ext cx="568766" cy="36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B35"/>
          </a:solidFill>
          <a:ln xmlns:a="http://schemas.openxmlformats.org/drawingml/2006/main" w="0">
            <a:noFill/>
          </a:ln>
        </p:spPr>
      </p:sp>
      <p:sp>
        <p:nvSpPr>
          <p:cNvPr id="11" name="費用と提供範囲は別途お見積もり">
            <a:extLst xmlns:a="http://schemas.openxmlformats.org/drawingml/2006/main">
              <a:ext uri="{FF2B5EF4-FFF2-40B4-BE49-F238E27FC236}">
                <a16:creationId xmlns:a16="http://schemas.microsoft.com/office/drawing/2014/main" id="{1398858C-334E-4D9A-B615-32BDABC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0" y="5779377"/>
            <a:ext cx="6919981" cy="39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defRPr>
            </a:pPr>
            <a:r>
              <a:rPr sz="1665" b="0">
                <a:solidFill>
                  <a:srgbClr val="626B79"/>
                </a:solidFill>
                <a:latin typeface="Hiragino Sans"/>
                <a:ea typeface="Hiragino Sans"/>
                <a:cs typeface="Hiragino Sans"/>
              </a:rPr>
              <a:t>SwarrowCallと個別連携は別途お見積もり</a:t>
            </a:r>
          </a:p>
        </p:txBody>
      </p:sp>
      <p:sp>
        <p:nvSpPr>
          <p:cNvPr id="12" name="株式会社Vecta">
            <a:extLst xmlns:a="http://schemas.openxmlformats.org/drawingml/2006/main">
              <a:ext uri="{FF2B5EF4-FFF2-40B4-BE49-F238E27FC236}">
                <a16:creationId xmlns:a16="http://schemas.microsoft.com/office/drawing/2014/main" id="{E8760614-1269-487F-97AA-979395C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08" y="2521645"/>
            <a:ext cx="3573014" cy="539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株式会社Vecta</a:t>
            </a:r>
          </a:p>
        </p:txBody>
      </p:sp>
      <p:sp>
        <p:nvSpPr>
          <p:cNvPr id="13" name="sales@vecta.co.jp">
            <a:extLst xmlns:a="http://schemas.openxmlformats.org/drawingml/2006/main">
              <a:ext uri="{FF2B5EF4-FFF2-40B4-BE49-F238E27FC236}">
                <a16:creationId xmlns:a16="http://schemas.microsoft.com/office/drawing/2014/main" id="{69A57F0E-3E96-4471-9D5B-3328C27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483" y="3228580"/>
            <a:ext cx="3427177" cy="4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9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9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sales@vecta.co.jp</a:t>
            </a:r>
          </a:p>
        </p:txBody>
      </p:sp>
      <p:sp>
        <p:nvSpPr>
          <p:cNvPr id="14" name="swarrow.com">
            <a:extLst xmlns:a="http://schemas.openxmlformats.org/drawingml/2006/main">
              <a:ext uri="{FF2B5EF4-FFF2-40B4-BE49-F238E27FC236}">
                <a16:creationId xmlns:a16="http://schemas.microsoft.com/office/drawing/2014/main" id="{380D66F5-BD34-4CE0-8147-F8425FF0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483" y="3716876"/>
            <a:ext cx="3427177" cy="4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9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97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swarrow.com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96BEF545-9EF3-47AE-ABFA-5C0D0CBC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7" y="6457160"/>
            <a:ext cx="11433646" cy="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EB5"/>
          </a:solidFill>
          <a:ln xmlns:a="http://schemas.openxmlformats.org/drawingml/2006/main" w="0">
            <a:noFill/>
          </a:ln>
        </p:spPr>
      </p:sp>
      <p:sp>
        <p:nvSpPr>
          <p:cNvPr id="16" name="SwarrowChat / SwarrowCall">
            <a:extLst xmlns:a="http://schemas.openxmlformats.org/drawingml/2006/main">
              <a:ext uri="{FF2B5EF4-FFF2-40B4-BE49-F238E27FC236}">
                <a16:creationId xmlns:a16="http://schemas.microsoft.com/office/drawing/2014/main" id="{8D4EFCA7-BD07-43CE-8786-A4C0377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28" y="6551904"/>
            <a:ext cx="5104306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092045"/>
                </a:solidFill>
                <a:latin typeface="Hiragino Sans"/>
                <a:ea typeface="Hiragino Sans"/>
                <a:cs typeface="Hiragino Sans"/>
              </a:rPr>
              <a:t>SwarrowChat / SwarrowCall</a:t>
            </a:r>
          </a:p>
        </p:txBody>
      </p:sp>
      <p:sp>
        <p:nvSpPr>
          <p:cNvPr id="17" name="13">
            <a:extLst xmlns:a="http://schemas.openxmlformats.org/drawingml/2006/main">
              <a:ext uri="{FF2B5EF4-FFF2-40B4-BE49-F238E27FC236}">
                <a16:creationId xmlns:a16="http://schemas.microsoft.com/office/drawing/2014/main" id="{11F39DD5-C416-423A-8FDD-D9CD2A85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00" y="6551904"/>
            <a:ext cx="277091" cy="1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19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4280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2026-10-27T11:54:09.5630000Z</dcterms:created>
  <dcterms:modified xsi:type="dcterms:W3CDTF">2026-10-27T11:54:09.5630000Z</dcterms:modified>
</coreProperties>
</file>